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 ·  SEPTEMBER 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website that works as hard as your crews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118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revamp for Pamar Enterprises: project showcase, careers funnel, and subcontractor bid portal.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Summit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737360"/>
            <a:ext cx="5394960" cy="34061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7" name="Image 0" descr="/tmp/claude-0/-home-user-pamar/b73e6f80-a414-5ae8-90eb-ab78d9502716/scratchpad/deck/img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jobs for the new website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731520" cy="7315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595" y="2384755"/>
            <a:ext cx="351130" cy="35113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320040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the work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749040"/>
            <a:ext cx="27227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full range of capabilities and completed projects so owners, engineers, and agencies see what Pamar can deliver.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368698" y="182880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34458" y="2194560"/>
            <a:ext cx="731520" cy="7315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654" y="238475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4458" y="320040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 the crew</a:t>
            </a:r>
            <a:endParaRPr lang="en-US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4734458" y="3749040"/>
            <a:ext cx="27227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operators, laborers, foremen, and managers an easy way to find openings and apply, right from their phone.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188757" y="1828800"/>
            <a:ext cx="3454298" cy="3566160"/>
          </a:xfrm>
          <a:prstGeom prst="roundRect">
            <a:avLst>
              <a:gd name="adj" fmla="val 3177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554517" y="2194560"/>
            <a:ext cx="731520" cy="7315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4712" y="238475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54517" y="3200400"/>
            <a:ext cx="2722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the right subs</a:t>
            </a:r>
            <a:endParaRPr lang="en-US" sz="2100" dirty="0"/>
          </a:p>
        </p:txBody>
      </p:sp>
      <p:sp>
        <p:nvSpPr>
          <p:cNvPr id="18" name="Text 13"/>
          <p:cNvSpPr txBox="1"/>
          <p:nvPr/>
        </p:nvSpPr>
        <p:spPr>
          <a:xfrm>
            <a:off x="8554517" y="3749040"/>
            <a:ext cx="27227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subcontract packages on awarded contracts and collect interest, bids, and prequalification in one place.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760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direction informed by leading contractor sites: Kokosing, FNF, and Dan’s Excavating.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site, three audiences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907128" y="1691640"/>
            <a:ext cx="2377440" cy="594360"/>
          </a:xfrm>
          <a:prstGeom prst="roundRect">
            <a:avLst>
              <a:gd name="adj" fmla="val 12308"/>
            </a:avLst>
          </a:prstGeom>
          <a:solidFill>
            <a:srgbClr val="171C22"/>
          </a:solidFill>
          <a:ln w="12700">
            <a:solidFill>
              <a:srgbClr val="171C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907128" y="16916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95848" y="2286000"/>
            <a:ext cx="0" cy="320040"/>
          </a:xfrm>
          <a:prstGeom prst="line">
            <a:avLst/>
          </a:prstGeom>
          <a:noFill/>
          <a:ln w="19050">
            <a:solidFill>
              <a:srgbClr val="D5D9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2606040"/>
            <a:ext cx="7711135" cy="0"/>
          </a:xfrm>
          <a:prstGeom prst="line">
            <a:avLst/>
          </a:prstGeom>
          <a:noFill/>
          <a:ln w="19050">
            <a:solidFill>
              <a:srgbClr val="D5D9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40280" y="2606040"/>
            <a:ext cx="0" cy="274320"/>
          </a:xfrm>
          <a:prstGeom prst="line">
            <a:avLst/>
          </a:prstGeom>
          <a:noFill/>
          <a:ln w="19050">
            <a:solidFill>
              <a:srgbClr val="D5D9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80360"/>
            <a:ext cx="3383280" cy="2606040"/>
          </a:xfrm>
          <a:prstGeom prst="roundRect">
            <a:avLst>
              <a:gd name="adj" fmla="val 350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06324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193999"/>
            <a:ext cx="241402" cy="2414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46304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&amp; engineers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4904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(per capability)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portfolio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detail pages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&amp; Safety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095848" y="2606040"/>
            <a:ext cx="0" cy="274320"/>
          </a:xfrm>
          <a:prstGeom prst="line">
            <a:avLst/>
          </a:prstGeom>
          <a:noFill/>
          <a:ln w="19050">
            <a:solidFill>
              <a:srgbClr val="D5D9D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04208" y="2880360"/>
            <a:ext cx="3383280" cy="2606040"/>
          </a:xfrm>
          <a:prstGeom prst="roundRect">
            <a:avLst>
              <a:gd name="adj" fmla="val 350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78528" y="306324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287" y="3193999"/>
            <a:ext cx="241402" cy="24140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1860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seekers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78528" y="374904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Careers &amp; benefits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positions (filterable)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detail pages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application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+ email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9951415" y="2606040"/>
            <a:ext cx="0" cy="274320"/>
          </a:xfrm>
          <a:prstGeom prst="line">
            <a:avLst/>
          </a:prstGeom>
          <a:noFill/>
          <a:ln w="19050">
            <a:solidFill>
              <a:srgbClr val="D5D9D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259775" y="2880360"/>
            <a:ext cx="3383280" cy="2606040"/>
          </a:xfrm>
          <a:prstGeom prst="roundRect">
            <a:avLst>
              <a:gd name="adj" fmla="val 350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34095" y="306324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4854" y="3193999"/>
            <a:ext cx="241402" cy="24140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9174175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8534095" y="374904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work with 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opportunities board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pages + bid form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/ prequal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+ email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OF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projects sell the company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041" y="1930481"/>
            <a:ext cx="272125" cy="27212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7647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Filterable portfolio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211226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by service, market, and year. Filtered views are shareable links.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862072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41" y="3009473"/>
            <a:ext cx="272125" cy="27212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25880" y="28437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stories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31912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challenge, result, key facts, and a photo gallery for every job.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48640" y="3941064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041" y="4088465"/>
            <a:ext cx="272125" cy="27212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25880" y="392277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 pages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1325880" y="42702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line links to the projects that prove it.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5020056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41" y="5167457"/>
            <a:ext cx="272125" cy="272125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25880" y="500176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Staff-managed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1325880" y="53492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adds new projects in the CMS, with no developer needed.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623560" y="1691640"/>
            <a:ext cx="6035040" cy="380619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/tmp/claude-0/-home-user-pamar/b73e6f80-a414-5ae8-90eb-ab78d9502716/scratchpad/deck/img/project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737360"/>
            <a:ext cx="5943600" cy="371475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3" name="Text 16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 FUNNEL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job post to applicant in minutes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6479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right opening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11226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department, location, and full-time or seasonal.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457200" cy="4572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163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from a phone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1638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form with certifications (CDL, OSHA) and resume upload.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86791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 gets it instantly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21538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with the resume attached; the applicant gets a confirmation.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37760"/>
            <a:ext cx="457200" cy="4572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91947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application counted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26694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conversion tracking shows which jobs and channels work.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92240" y="2103120"/>
            <a:ext cx="2377440" cy="2377440"/>
          </a:xfrm>
          <a:prstGeom prst="roundRect">
            <a:avLst>
              <a:gd name="adj" fmla="val 4615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min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6720840" y="33832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apply on a phone, including a resume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464040" y="1737360"/>
            <a:ext cx="2103120" cy="444492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24" name="Image 0" descr="/tmp/claude-0/-home-user-pamar/b73e6f80-a414-5ae8-90eb-ab78d9502716/scratchpad/deck/img/apply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1783080"/>
            <a:ext cx="2011680" cy="4353482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 PORTAL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packages. Collect bids. Hit your goals.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943600" cy="37490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tmp/claude-0/-home-user-pamar/b73e6f80-a414-5ae8-90eb-ab78d9502716/scratchpad/deck/img/opportun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85216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03720" y="173736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479" y="1868119"/>
            <a:ext cx="241402" cy="24140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589520" y="17099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bid board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589520" y="2011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packages listed first, soonest due date on top.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903720" y="260604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479" y="2736799"/>
            <a:ext cx="241402" cy="24140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0" y="257860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Deadlines enforced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7589520" y="28803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close automatically at the due time; late bids are rejected.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903720" y="347472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4479" y="3605479"/>
            <a:ext cx="241402" cy="24140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589520" y="344728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 to bid or full bid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589520" y="374904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 send a price and bid PDF straight to estimating.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903720" y="434340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4479" y="4474159"/>
            <a:ext cx="241402" cy="24140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589520" y="431596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Prequalification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7589520" y="46177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Trades, service area, bonding, insurance, COI and W-9 on file.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6903720" y="521208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4479" y="5342839"/>
            <a:ext cx="241402" cy="24140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589520" y="518464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DBE / MBE / WBE outreach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7589520" y="54864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Certifications captured to support participation goals.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7" name="Text 19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be found, fast, and easy to run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5740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2000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084832"/>
            <a:ext cx="2204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for staff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74320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HR, estimating, and marketing update jobs, packages, and projects themselves.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53458" y="173736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73498" y="205740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6145" y="22000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05018" y="2084832"/>
            <a:ext cx="2204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Mobile-first &amp; fast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673498" y="274320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the field. Targets Lighthouse 90+ on mobile.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58277" y="173736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78317" y="205740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963" y="22000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09837" y="2084832"/>
            <a:ext cx="2204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on Google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478317" y="274320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Sitemap, structured data, and job listings eligible for Google for Jobs.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68680" y="429768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44403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325112"/>
            <a:ext cx="2204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68680" y="498348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GA4 conversions for applications, registrations, bids, and inquiries.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353458" y="397764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673498" y="429768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6145" y="4440326"/>
            <a:ext cx="263347" cy="26334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405018" y="4325112"/>
            <a:ext cx="2204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forms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673498" y="498348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protection plus server-side file checks on every upload.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8158277" y="3977640"/>
            <a:ext cx="3484778" cy="1965960"/>
          </a:xfrm>
          <a:prstGeom prst="roundRect">
            <a:avLst>
              <a:gd name="adj" fmla="val 4651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478317" y="429768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963" y="4440326"/>
            <a:ext cx="263347" cy="26334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209837" y="4325112"/>
            <a:ext cx="2204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Accessible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478317" y="498348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WCAG 2.1 AA: keyboard, screen reader, and contrast friendly.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+ AEO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the answer when they search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&amp; ENGINEERS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48477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408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07008" y="2148840"/>
            <a:ext cx="26160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underground utility contractor near me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6324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find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01568"/>
            <a:ext cx="34847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services, projects, and safety record in Google results, Maps, and AI answers.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353458" y="1783080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SEEKERS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53458" y="2148840"/>
            <a:ext cx="348477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490" y="234086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11826" y="2148840"/>
            <a:ext cx="26160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operator jobs near me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353458" y="306324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find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53458" y="3401568"/>
            <a:ext cx="34847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openings in Google’s job listings, with a one-tap mobile application.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158277" y="1783080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58277" y="2148840"/>
            <a:ext cx="348477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309" y="234086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816645" y="2148840"/>
            <a:ext cx="26160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sewer project subcontract bids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158277" y="306324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find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158277" y="3401568"/>
            <a:ext cx="34847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open packages, due dates, and bidder registration.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754880"/>
            <a:ext cx="11094415" cy="1234440"/>
          </a:xfrm>
          <a:prstGeom prst="roundRect">
            <a:avLst>
              <a:gd name="adj" fmla="val 7407"/>
            </a:avLst>
          </a:prstGeom>
          <a:solidFill>
            <a:srgbClr val="171C22"/>
          </a:solidFill>
          <a:ln w="12700">
            <a:solidFill>
              <a:srgbClr val="171C22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68680" y="5074920"/>
            <a:ext cx="566928" cy="566928"/>
          </a:xfrm>
          <a:prstGeom prst="ellipse">
            <a:avLst/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81" y="5222321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691640" y="4754880"/>
            <a:ext cx="963137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searches now end with an AI answer, not a list of links. </a:t>
            </a:r>
            <a:pPr indent="0" marL="0">
              <a:buNone/>
            </a:pPr>
            <a:r>
              <a:rPr lang="en-US" sz="15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Overviews, ChatGPT, Perplexity, and Copilot summarize the sources they trust. The goal is for Pamar to be the source they name.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GET FOUND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in search. Get cited in answers.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246120" cy="3931920"/>
          </a:xfrm>
          <a:prstGeom prst="roundRect">
            <a:avLst>
              <a:gd name="adj" fmla="val 338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1168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1543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011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SEO: search engines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E5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in Google search, Maps, and Google’s job listings.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52044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mobile-first pages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URLs and a sitemap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listings and Google Business Profile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posting markup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069080" y="1737360"/>
            <a:ext cx="3246120" cy="3931920"/>
          </a:xfrm>
          <a:prstGeom prst="roundRect">
            <a:avLst>
              <a:gd name="adj" fmla="val 338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201168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046" y="215432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29200" y="2011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AEO: answer engines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E5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named and quoted by AI assistants and AI Overviews.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3520440"/>
            <a:ext cx="2697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answers to real questions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machines can read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llms.txt summary for AI tools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facts everywhere Pamar appears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1737360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BUILT INTO THE NEW SITE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635240" y="2103120"/>
            <a:ext cx="4053535" cy="171872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18" name="Image 2" descr="/tmp/claude-0/-home-user-pamar/b73e6f80-a414-5ae8-90eb-ab78d9502716/scratchpad/deck/img/faq-b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148840"/>
            <a:ext cx="3962095" cy="162728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680960" y="3959009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answers on every service page, marked up so search engines and AI tools can quote them.</a:t>
            </a:r>
            <a:endParaRPr lang="en-US" sz="12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4699673"/>
            <a:ext cx="182880" cy="1828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001000" y="4644809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on every key page</a:t>
            </a:r>
            <a:endParaRPr lang="en-US" sz="13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0" y="5047145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001000" y="4992281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job listing markup</a:t>
            </a:r>
            <a:endParaRPr lang="en-US" sz="13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5394617"/>
            <a:ext cx="182880" cy="1828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001000" y="5339753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answers + llms.txt</a:t>
            </a:r>
            <a:endParaRPr lang="en-US" sz="13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0" y="5742089"/>
            <a:ext cx="182880" cy="1828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001000" y="5687225"/>
            <a:ext cx="36420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Sitemap, fast mobile pages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9" name="Text 20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LAUNCH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online presence, managed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399" y="1913839"/>
            <a:ext cx="241402" cy="24140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Business Profile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0848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hours, services, photos, and posts.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977640" y="178308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399" y="1913839"/>
            <a:ext cx="241402" cy="24140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663440" y="20848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process to request and respond to reviews.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01752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99" y="3148279"/>
            <a:ext cx="241402" cy="24140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34440" y="29900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stories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234440" y="331927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 published as case studies.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3977640" y="301752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8399" y="3148279"/>
            <a:ext cx="241402" cy="2414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663440" y="29900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Jobs &amp; bid packages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4663440" y="331927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Openings and packages posted and kept current.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399" y="4382719"/>
            <a:ext cx="241402" cy="24140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2245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listings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1234440" y="45537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everywhere.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3977640" y="425196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8399" y="4382719"/>
            <a:ext cx="241402" cy="24140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663440" y="42245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answer monitoring</a:t>
            </a:r>
            <a:endParaRPr lang="en-US" sz="1500" dirty="0"/>
          </a:p>
        </p:txBody>
      </p:sp>
      <p:sp>
        <p:nvSpPr>
          <p:cNvPr id="27" name="Text 19"/>
          <p:cNvSpPr txBox="1"/>
          <p:nvPr/>
        </p:nvSpPr>
        <p:spPr>
          <a:xfrm>
            <a:off x="4663440" y="455371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what AI assistants say about Pamar, and fixing gaps.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7635240" y="1691640"/>
            <a:ext cx="4007815" cy="3246120"/>
          </a:xfrm>
          <a:prstGeom prst="roundRect">
            <a:avLst>
              <a:gd name="adj" fmla="val 3380"/>
            </a:avLst>
          </a:prstGeom>
          <a:solidFill>
            <a:srgbClr val="171C22"/>
          </a:solidFill>
          <a:ln w="12700">
            <a:solidFill>
              <a:srgbClr val="171C22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7955280" y="1920240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monthly</a:t>
            </a:r>
            <a:endParaRPr lang="en-US" sz="1800" dirty="0"/>
          </a:p>
        </p:txBody>
      </p:sp>
      <p:sp>
        <p:nvSpPr>
          <p:cNvPr id="30" name="Text 22"/>
          <p:cNvSpPr txBox="1"/>
          <p:nvPr/>
        </p:nvSpPr>
        <p:spPr>
          <a:xfrm>
            <a:off x="7955280" y="2468880"/>
            <a:ext cx="345917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and contact-form leads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applications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Subcontractor registrations and bids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rankings and visibility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Mentions in AI answers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AI visibility build over months. No one can guarantee rankings or citations; we make Pamar the clearest, most credible answer and track the results.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HEAD START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isn’t a mockup. It’s already working.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built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0116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live in the prototype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0116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forms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20116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29260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02336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pages, the careers funnel, and the bid portal already run end to end with placeholder content. The build phases turn it into Pamar’s site: your brand, your projects, your CMS.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949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risk  ·  Faster launch  ·  Decisions based on something you can click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32520" y="1691640"/>
            <a:ext cx="2103120" cy="4444922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15" name="Image 0" descr="/tmp/claude-0/-home-user-pamar/b73e6f80-a414-5ae8-90eb-ab78d9502716/scratchpad/deck/img/hom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737360"/>
            <a:ext cx="2011680" cy="435348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about 12 weeks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566160" y="1874520"/>
            <a:ext cx="673075" cy="307238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239235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912309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912309" y="1874520"/>
            <a:ext cx="673075" cy="307238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585384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258458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58458" y="1874520"/>
            <a:ext cx="673075" cy="307238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31533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04608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04608" y="1874520"/>
            <a:ext cx="673075" cy="307238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7682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50757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W9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50757" y="1874520"/>
            <a:ext cx="673075" cy="307238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23831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W10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296906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296906" y="1874520"/>
            <a:ext cx="673075" cy="307238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69981" y="1508760"/>
            <a:ext cx="673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18745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&amp; Design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566160" y="1993392"/>
            <a:ext cx="2019224" cy="274320"/>
          </a:xfrm>
          <a:prstGeom prst="roundRect">
            <a:avLst>
              <a:gd name="adj" fmla="val 20000"/>
            </a:avLst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38658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Site &amp; Showcase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248847" y="2505456"/>
            <a:ext cx="1682687" cy="274320"/>
          </a:xfrm>
          <a:prstGeom prst="roundRect">
            <a:avLst>
              <a:gd name="adj" fmla="val 20000"/>
            </a:avLst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289864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 Funnel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594996" y="3017520"/>
            <a:ext cx="1009612" cy="274320"/>
          </a:xfrm>
          <a:prstGeom prst="roundRect">
            <a:avLst>
              <a:gd name="adj" fmla="val 20000"/>
            </a:avLst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41071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Subcontractor Portal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268070" y="3529584"/>
            <a:ext cx="2355761" cy="274320"/>
          </a:xfrm>
          <a:prstGeom prst="roundRect">
            <a:avLst>
              <a:gd name="adj" fmla="val 20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92277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CMS &amp; Staff Admin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614220" y="4041648"/>
            <a:ext cx="1682687" cy="274320"/>
          </a:xfrm>
          <a:prstGeom prst="roundRect">
            <a:avLst>
              <a:gd name="adj" fmla="val 20000"/>
            </a:avLst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443484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SEO, Content &amp; Launch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960369" y="4553712"/>
            <a:ext cx="1682687" cy="274320"/>
          </a:xfrm>
          <a:prstGeom prst="roundRect">
            <a:avLst>
              <a:gd name="adj" fmla="val 20000"/>
            </a:avLst>
          </a:prstGeom>
          <a:solidFill>
            <a:srgbClr val="3E5C76"/>
          </a:solidFill>
          <a:ln w="12700">
            <a:solidFill>
              <a:srgbClr val="3E5C7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57368" y="5129784"/>
            <a:ext cx="256032" cy="256032"/>
          </a:xfrm>
          <a:prstGeom prst="diamond">
            <a:avLst/>
          </a:prstGeom>
          <a:solidFill>
            <a:srgbClr val="171C22"/>
          </a:solidFill>
          <a:ln w="12700">
            <a:solidFill>
              <a:srgbClr val="171C2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670984" y="5449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approved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68890" y="5129784"/>
            <a:ext cx="256032" cy="256032"/>
          </a:xfrm>
          <a:prstGeom prst="diamond">
            <a:avLst/>
          </a:prstGeom>
          <a:solidFill>
            <a:srgbClr val="171C22"/>
          </a:solidFill>
          <a:ln w="12700">
            <a:solidFill>
              <a:srgbClr val="171C2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596122" y="5449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review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1515039" y="5129784"/>
            <a:ext cx="256032" cy="256032"/>
          </a:xfrm>
          <a:prstGeom prst="diamond">
            <a:avLst/>
          </a:prstGeom>
          <a:solidFill>
            <a:srgbClr val="171C22"/>
          </a:solidFill>
          <a:ln w="12700">
            <a:solidFill>
              <a:srgbClr val="171C2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814255" y="54498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content and feedback from Pamar within 3 business days. Phases overlap to shorten the schedule.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scope that fits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84778" cy="3840480"/>
          </a:xfrm>
          <a:prstGeom prst="roundRect">
            <a:avLst>
              <a:gd name="adj" fmla="val 314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0312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2296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889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E5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and careers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291840"/>
            <a:ext cx="28446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site: services, projects, About, Safety, Contact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Careers funnel with mobile applications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SEO, analytics, and launch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Subcontracting stays on email for now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53458" y="1783080"/>
            <a:ext cx="3484778" cy="3840480"/>
          </a:xfrm>
          <a:prstGeom prst="roundRect">
            <a:avLst>
              <a:gd name="adj" fmla="val 314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73498" y="210312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73498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13578" y="2103120"/>
            <a:ext cx="2296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73498" y="27889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E5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subcontractor portal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3498" y="3291840"/>
            <a:ext cx="28446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Essentials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board and subcontractor registration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Intent-to-bid and bid submission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so staff update jobs, packages, and projects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58277" y="1783080"/>
            <a:ext cx="3484778" cy="3840480"/>
          </a:xfrm>
          <a:prstGeom prst="roundRect">
            <a:avLst>
              <a:gd name="adj" fmla="val 3149"/>
            </a:avLst>
          </a:prstGeom>
          <a:solidFill>
            <a:srgbClr val="171C22"/>
          </a:solidFill>
          <a:ln w="12700">
            <a:solidFill>
              <a:srgbClr val="171C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78317" y="2103120"/>
            <a:ext cx="502920" cy="50292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78317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18397" y="2103120"/>
            <a:ext cx="2296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78317" y="2788920"/>
            <a:ext cx="28446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platform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478317" y="3291840"/>
            <a:ext cx="284469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Standard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Subcontractor accounts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plan and spec downloads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Trade-matched bid alerts by email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package is a fixed price, sized to your budget and priorities. Add-ons are available: copywriting, project map, applicant-tracking integration, bid dashboard, photography.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E5C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LAUNCH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plans that keep the site working for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84778" cy="4069080"/>
          </a:xfrm>
          <a:prstGeom prst="roundRect">
            <a:avLst>
              <a:gd name="adj" fmla="val 314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&amp; running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004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hours of maintenance and changes included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657600"/>
            <a:ext cx="284469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Hosting, SSL &amp; monthly security updates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monitoring &amp; daily backups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content help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2-business-day response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analytics report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3458" y="1783080"/>
            <a:ext cx="3484778" cy="4069080"/>
          </a:xfrm>
          <a:prstGeom prst="roundRect">
            <a:avLst>
              <a:gd name="adj" fmla="val 3149"/>
            </a:avLst>
          </a:prstGeom>
          <a:solidFill>
            <a:srgbClr val="171C22"/>
          </a:solidFill>
          <a:ln w="12700">
            <a:solidFill>
              <a:srgbClr val="171C2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8037" y="2057400"/>
            <a:ext cx="1325880" cy="32918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8037" y="205740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73498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73498" y="2606040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help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673498" y="32004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hours of maintenance and changes included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73498" y="3657600"/>
            <a:ext cx="284469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Essential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help posting jobs, bids &amp; projects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new features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1-business-day response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analytics + quarterly SEO check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58277" y="1783080"/>
            <a:ext cx="3484778" cy="4069080"/>
          </a:xfrm>
          <a:prstGeom prst="roundRect">
            <a:avLst>
              <a:gd name="adj" fmla="val 314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78317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78317" y="2606040"/>
            <a:ext cx="28446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your team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78317" y="3200400"/>
            <a:ext cx="28446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 of maintenance and changes included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78317" y="3657600"/>
            <a:ext cx="284469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Growth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feature sprints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updates, monthly SEO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 (critical: 4 hrs)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3D47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strategy review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035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 includes a 30-day post-launch warranty. Extra work beyond a plan is billed at the standard rate.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4652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Summit  ·  Pamar Enterprises website overview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C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Let’s shape it together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036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the prototype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118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demo of the working site with your team.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64992" y="2103120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64992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64992" y="288036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budget &amp; priorities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64992" y="36118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budget range, timeline, and must-haves.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81344" y="2103120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8134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81344" y="288036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a fixed-price proposal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81344" y="36118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to your budget, within 2 business days.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97696" y="2103120"/>
            <a:ext cx="566928" cy="566928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97696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997696" y="2880360"/>
            <a:ext cx="2514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Kickoff &amp; discovery workshop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997696" y="36118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CE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Goals, reference-site review, content and photo plan.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577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We’re ready when you are.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Summit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Pamar Enterprises – Website Revamp Proposal</dc:title>
  <dc:subject>PptxGenJS Presentation</dc:subject>
  <dc:creator>Summit</dc:creator>
  <cp:lastModifiedBy>Summit</cp:lastModifiedBy>
  <cp:revision>1</cp:revision>
  <dcterms:created xsi:type="dcterms:W3CDTF">2026-09-25T11:35:06Z</dcterms:created>
  <dcterms:modified xsi:type="dcterms:W3CDTF">2026-09-25T11:35:06Z</dcterms:modified>
</cp:coreProperties>
</file>