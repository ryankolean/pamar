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C22"/>
        </a:solidFill>
      </p:bgPr>
    </p:bg>
    <p:spTree>
      <p:nvGrpSpPr>
        <p:cNvPr id="1" name=""/>
        <p:cNvGrpSpPr/>
        <p:nvPr/>
      </p:nvGrpSpPr>
      <p:grpSpPr>
        <a:xfrm>
          <a:off x="0" y="0"/>
          <a:ext cx="0" cy="0"/>
          <a:chOff x="0" y="0"/>
          <a:chExt cx="0" cy="0"/>
        </a:xfrm>
      </p:grpSpPr>
      <p:sp>
        <p:nvSpPr>
          <p:cNvPr id="2" name="Text 0"/>
          <p:cNvSpPr txBox="1"/>
          <p:nvPr/>
        </p:nvSpPr>
        <p:spPr>
          <a:xfrm>
            <a:off x="548640" y="1554480"/>
            <a:ext cx="5486400" cy="274320"/>
          </a:xfrm>
          <a:prstGeom prst="rect">
            <a:avLst/>
          </a:prstGeom>
          <a:noFill/>
          <a:ln/>
        </p:spPr>
        <p:txBody>
          <a:bodyPr wrap="square" lIns="0" tIns="0" rIns="0" bIns="0" rtlCol="0" anchor="ctr"/>
          <a:lstStyle/>
          <a:p>
            <a:pPr indent="0" marL="0">
              <a:buNone/>
            </a:pPr>
            <a:r>
              <a:rPr lang="en-US" sz="1200" b="1" spc="300" kern="0" dirty="0">
                <a:solidFill>
                  <a:srgbClr val="F7C92D"/>
                </a:solidFill>
                <a:latin typeface="Arial" pitchFamily="34" charset="0"/>
                <a:ea typeface="Arial" pitchFamily="34" charset="-122"/>
                <a:cs typeface="Arial" pitchFamily="34" charset="-120"/>
              </a:rPr>
              <a:t>OVERVIEW  ·  SEPTEMBER 2026</a:t>
            </a:r>
            <a:endParaRPr lang="en-US" sz="1200" dirty="0"/>
          </a:p>
        </p:txBody>
      </p:sp>
      <p:sp>
        <p:nvSpPr>
          <p:cNvPr id="3" name="Text 1"/>
          <p:cNvSpPr txBox="1"/>
          <p:nvPr/>
        </p:nvSpPr>
        <p:spPr>
          <a:xfrm>
            <a:off x="548640" y="1965960"/>
            <a:ext cx="5394960" cy="1463040"/>
          </a:xfrm>
          <a:prstGeom prst="rect">
            <a:avLst/>
          </a:prstGeom>
          <a:noFill/>
          <a:ln/>
        </p:spPr>
        <p:txBody>
          <a:bodyPr wrap="square" lIns="0" tIns="0" rIns="0" bIns="0" rtlCol="0" anchor="t"/>
          <a:lstStyle/>
          <a:p>
            <a:pPr indent="0" marL="0">
              <a:buNone/>
            </a:pPr>
            <a:r>
              <a:rPr lang="en-US" sz="4000" b="1" dirty="0">
                <a:solidFill>
                  <a:srgbClr val="FFFFFF"/>
                </a:solidFill>
                <a:latin typeface="Arial" pitchFamily="34" charset="0"/>
                <a:ea typeface="Arial" pitchFamily="34" charset="-122"/>
                <a:cs typeface="Arial" pitchFamily="34" charset="-120"/>
              </a:rPr>
              <a:t>A website that works as hard as your crews</a:t>
            </a:r>
            <a:endParaRPr lang="en-US" sz="4000" dirty="0"/>
          </a:p>
        </p:txBody>
      </p:sp>
      <p:sp>
        <p:nvSpPr>
          <p:cNvPr id="4" name="Text 2"/>
          <p:cNvSpPr txBox="1"/>
          <p:nvPr/>
        </p:nvSpPr>
        <p:spPr>
          <a:xfrm>
            <a:off x="548640" y="3611880"/>
            <a:ext cx="5120640" cy="822960"/>
          </a:xfrm>
          <a:prstGeom prst="rect">
            <a:avLst/>
          </a:prstGeom>
          <a:noFill/>
          <a:ln/>
        </p:spPr>
        <p:txBody>
          <a:bodyPr wrap="square" lIns="0" tIns="0" rIns="0" bIns="0" rtlCol="0" anchor="ctr"/>
          <a:lstStyle/>
          <a:p>
            <a:pPr indent="0" marL="0">
              <a:buNone/>
            </a:pPr>
            <a:r>
              <a:rPr lang="en-US" sz="1700" dirty="0">
                <a:solidFill>
                  <a:srgbClr val="C9CED4"/>
                </a:solidFill>
                <a:latin typeface="Calibri" pitchFamily="34" charset="0"/>
                <a:ea typeface="Calibri" pitchFamily="34" charset="-122"/>
                <a:cs typeface="Calibri" pitchFamily="34" charset="-120"/>
              </a:rPr>
              <a:t>Website revamp for Pamar Enterprises: project showcase, careers funnel, and subcontractor bid portal.</a:t>
            </a:r>
            <a:endParaRPr lang="en-US" sz="1700" dirty="0"/>
          </a:p>
        </p:txBody>
      </p:sp>
      <p:sp>
        <p:nvSpPr>
          <p:cNvPr id="5" name="Text 3"/>
          <p:cNvSpPr txBox="1"/>
          <p:nvPr/>
        </p:nvSpPr>
        <p:spPr>
          <a:xfrm>
            <a:off x="548640" y="4800600"/>
            <a:ext cx="4572000" cy="3200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Prepared by Summit</a:t>
            </a:r>
            <a:endParaRPr lang="en-US" sz="1400" dirty="0"/>
          </a:p>
        </p:txBody>
      </p:sp>
      <p:sp>
        <p:nvSpPr>
          <p:cNvPr id="6" name="Shape 4"/>
          <p:cNvSpPr/>
          <p:nvPr/>
        </p:nvSpPr>
        <p:spPr>
          <a:xfrm>
            <a:off x="6309360" y="1737360"/>
            <a:ext cx="5394960" cy="3406140"/>
          </a:xfrm>
          <a:prstGeom prst="rect">
            <a:avLst/>
          </a:prstGeom>
          <a:solidFill>
            <a:srgbClr val="FFFFFF"/>
          </a:solidFill>
          <a:ln w="9525">
            <a:solidFill>
              <a:srgbClr val="D5D9DE"/>
            </a:solidFill>
            <a:prstDash val="solid"/>
          </a:ln>
          <a:effectLst>
            <a:outerShdw sx="100000" sy="100000" kx="0" ky="0" algn="bl" rotWithShape="0" blurRad="152400" dist="50800" dir="5400000">
              <a:srgbClr val="000000">
                <a:alpha val="18000"/>
              </a:srgbClr>
            </a:outerShdw>
          </a:effectLst>
        </p:spPr>
      </p:sp>
      <p:pic>
        <p:nvPicPr>
          <p:cNvPr id="7" name="Image 0" descr="/tmp/claude-0/-home-user-pamar/b73e6f80-a414-5ae8-90eb-ab78d9502716/scratchpad/deck/img/home.png">    </p:cNvPr>
          <p:cNvPicPr>
            <a:picLocks noChangeAspect="1"/>
          </p:cNvPicPr>
          <p:nvPr/>
        </p:nvPicPr>
        <p:blipFill>
          <a:blip r:embed="rId1"/>
          <a:stretch>
            <a:fillRect/>
          </a:stretch>
        </p:blipFill>
        <p:spPr>
          <a:xfrm>
            <a:off x="6355080" y="1783080"/>
            <a:ext cx="5303520" cy="33147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WHAT WE HEARD</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Three jobs for the new website</a:t>
            </a:r>
            <a:endParaRPr lang="en-US" sz="3400" dirty="0"/>
          </a:p>
        </p:txBody>
      </p:sp>
      <p:sp>
        <p:nvSpPr>
          <p:cNvPr id="4" name="Shape 2"/>
          <p:cNvSpPr/>
          <p:nvPr/>
        </p:nvSpPr>
        <p:spPr>
          <a:xfrm>
            <a:off x="548640" y="1828800"/>
            <a:ext cx="3454298" cy="3566160"/>
          </a:xfrm>
          <a:prstGeom prst="roundRect">
            <a:avLst>
              <a:gd name="adj" fmla="val 3177"/>
            </a:avLst>
          </a:prstGeom>
          <a:solidFill>
            <a:srgbClr val="F3F4F6"/>
          </a:solidFill>
          <a:ln w="12700">
            <a:solidFill>
              <a:srgbClr val="F3F4F6"/>
            </a:solidFill>
            <a:prstDash val="solid"/>
          </a:ln>
        </p:spPr>
      </p:sp>
      <p:sp>
        <p:nvSpPr>
          <p:cNvPr id="5" name="Shape 3"/>
          <p:cNvSpPr/>
          <p:nvPr/>
        </p:nvSpPr>
        <p:spPr>
          <a:xfrm>
            <a:off x="914400" y="2194560"/>
            <a:ext cx="731520" cy="731520"/>
          </a:xfrm>
          <a:prstGeom prst="ellipse">
            <a:avLst/>
          </a:prstGeom>
          <a:solidFill>
            <a:srgbClr val="F7C92D"/>
          </a:solidFill>
          <a:ln w="12700">
            <a:solidFill>
              <a:srgbClr val="F7C92D"/>
            </a:solidFill>
            <a:prstDash val="solid"/>
          </a:ln>
        </p:spPr>
      </p:sp>
      <p:pic>
        <p:nvPicPr>
          <p:cNvPr id="6" name="Image 0" descr="preencoded.png">    </p:cNvPr>
          <p:cNvPicPr>
            <a:picLocks noChangeAspect="1"/>
          </p:cNvPicPr>
          <p:nvPr/>
        </p:nvPicPr>
        <p:blipFill>
          <a:blip r:embed="rId1"/>
          <a:stretch>
            <a:fillRect/>
          </a:stretch>
        </p:blipFill>
        <p:spPr>
          <a:xfrm>
            <a:off x="1104595" y="2384755"/>
            <a:ext cx="351130" cy="351130"/>
          </a:xfrm>
          <a:prstGeom prst="rect">
            <a:avLst/>
          </a:prstGeom>
        </p:spPr>
      </p:pic>
      <p:sp>
        <p:nvSpPr>
          <p:cNvPr id="7" name="Text 4"/>
          <p:cNvSpPr txBox="1"/>
          <p:nvPr/>
        </p:nvSpPr>
        <p:spPr>
          <a:xfrm>
            <a:off x="914400" y="3200400"/>
            <a:ext cx="2722778" cy="457200"/>
          </a:xfrm>
          <a:prstGeom prst="rect">
            <a:avLst/>
          </a:prstGeom>
          <a:noFill/>
          <a:ln/>
        </p:spPr>
        <p:txBody>
          <a:bodyPr wrap="square" lIns="0" tIns="0" rIns="0" bIns="0" rtlCol="0" anchor="ctr"/>
          <a:lstStyle/>
          <a:p>
            <a:pPr indent="0" marL="0">
              <a:buNone/>
            </a:pPr>
            <a:r>
              <a:rPr lang="en-US" sz="2100" b="1" dirty="0">
                <a:solidFill>
                  <a:srgbClr val="1F2933"/>
                </a:solidFill>
                <a:latin typeface="Arial" pitchFamily="34" charset="0"/>
                <a:ea typeface="Arial" pitchFamily="34" charset="-122"/>
                <a:cs typeface="Arial" pitchFamily="34" charset="-120"/>
              </a:rPr>
              <a:t>Showcase the work</a:t>
            </a:r>
            <a:endParaRPr lang="en-US" sz="2100" dirty="0"/>
          </a:p>
        </p:txBody>
      </p:sp>
      <p:sp>
        <p:nvSpPr>
          <p:cNvPr id="8" name="Text 5"/>
          <p:cNvSpPr txBox="1"/>
          <p:nvPr/>
        </p:nvSpPr>
        <p:spPr>
          <a:xfrm>
            <a:off x="914400" y="3749040"/>
            <a:ext cx="2722778" cy="1371600"/>
          </a:xfrm>
          <a:prstGeom prst="rect">
            <a:avLst/>
          </a:prstGeom>
          <a:noFill/>
          <a:ln/>
        </p:spPr>
        <p:txBody>
          <a:bodyPr wrap="square" lIns="0" tIns="0" rIns="0" bIns="0" rtlCol="0" anchor="t"/>
          <a:lstStyle/>
          <a:p>
            <a:pPr indent="0" marL="0">
              <a:buNone/>
            </a:pPr>
            <a:r>
              <a:rPr lang="en-US" sz="1500" dirty="0">
                <a:solidFill>
                  <a:srgbClr val="3D4752"/>
                </a:solidFill>
                <a:latin typeface="Calibri" pitchFamily="34" charset="0"/>
                <a:ea typeface="Calibri" pitchFamily="34" charset="-122"/>
                <a:cs typeface="Calibri" pitchFamily="34" charset="-120"/>
              </a:rPr>
              <a:t>Show the full range of capabilities and completed projects so owners, engineers, and agencies see what Pamar can deliver.</a:t>
            </a:r>
            <a:endParaRPr lang="en-US" sz="1500" dirty="0"/>
          </a:p>
        </p:txBody>
      </p:sp>
      <p:sp>
        <p:nvSpPr>
          <p:cNvPr id="9" name="Shape 6"/>
          <p:cNvSpPr/>
          <p:nvPr/>
        </p:nvSpPr>
        <p:spPr>
          <a:xfrm>
            <a:off x="4368698" y="1828800"/>
            <a:ext cx="3454298" cy="3566160"/>
          </a:xfrm>
          <a:prstGeom prst="roundRect">
            <a:avLst>
              <a:gd name="adj" fmla="val 3177"/>
            </a:avLst>
          </a:prstGeom>
          <a:solidFill>
            <a:srgbClr val="F3F4F6"/>
          </a:solidFill>
          <a:ln w="12700">
            <a:solidFill>
              <a:srgbClr val="F3F4F6"/>
            </a:solidFill>
            <a:prstDash val="solid"/>
          </a:ln>
        </p:spPr>
      </p:sp>
      <p:sp>
        <p:nvSpPr>
          <p:cNvPr id="10" name="Shape 7"/>
          <p:cNvSpPr/>
          <p:nvPr/>
        </p:nvSpPr>
        <p:spPr>
          <a:xfrm>
            <a:off x="4734458" y="2194560"/>
            <a:ext cx="731520" cy="731520"/>
          </a:xfrm>
          <a:prstGeom prst="ellipse">
            <a:avLst/>
          </a:prstGeom>
          <a:solidFill>
            <a:srgbClr val="F7C92D"/>
          </a:solidFill>
          <a:ln w="12700">
            <a:solidFill>
              <a:srgbClr val="F7C92D"/>
            </a:solidFill>
            <a:prstDash val="solid"/>
          </a:ln>
        </p:spPr>
      </p:sp>
      <p:pic>
        <p:nvPicPr>
          <p:cNvPr id="11" name="Image 1" descr="preencoded.png">    </p:cNvPr>
          <p:cNvPicPr>
            <a:picLocks noChangeAspect="1"/>
          </p:cNvPicPr>
          <p:nvPr/>
        </p:nvPicPr>
        <p:blipFill>
          <a:blip r:embed="rId2"/>
          <a:stretch>
            <a:fillRect/>
          </a:stretch>
        </p:blipFill>
        <p:spPr>
          <a:xfrm>
            <a:off x="4924654" y="2384755"/>
            <a:ext cx="351130" cy="351130"/>
          </a:xfrm>
          <a:prstGeom prst="rect">
            <a:avLst/>
          </a:prstGeom>
        </p:spPr>
      </p:pic>
      <p:sp>
        <p:nvSpPr>
          <p:cNvPr id="12" name="Text 8"/>
          <p:cNvSpPr txBox="1"/>
          <p:nvPr/>
        </p:nvSpPr>
        <p:spPr>
          <a:xfrm>
            <a:off x="4734458" y="3200400"/>
            <a:ext cx="2722778" cy="457200"/>
          </a:xfrm>
          <a:prstGeom prst="rect">
            <a:avLst/>
          </a:prstGeom>
          <a:noFill/>
          <a:ln/>
        </p:spPr>
        <p:txBody>
          <a:bodyPr wrap="square" lIns="0" tIns="0" rIns="0" bIns="0" rtlCol="0" anchor="ctr"/>
          <a:lstStyle/>
          <a:p>
            <a:pPr indent="0" marL="0">
              <a:buNone/>
            </a:pPr>
            <a:r>
              <a:rPr lang="en-US" sz="2100" b="1" dirty="0">
                <a:solidFill>
                  <a:srgbClr val="1F2933"/>
                </a:solidFill>
                <a:latin typeface="Arial" pitchFamily="34" charset="0"/>
                <a:ea typeface="Arial" pitchFamily="34" charset="-122"/>
                <a:cs typeface="Arial" pitchFamily="34" charset="-120"/>
              </a:rPr>
              <a:t>Recruit the crew</a:t>
            </a:r>
            <a:endParaRPr lang="en-US" sz="2100" dirty="0"/>
          </a:p>
        </p:txBody>
      </p:sp>
      <p:sp>
        <p:nvSpPr>
          <p:cNvPr id="13" name="Text 9"/>
          <p:cNvSpPr txBox="1"/>
          <p:nvPr/>
        </p:nvSpPr>
        <p:spPr>
          <a:xfrm>
            <a:off x="4734458" y="3749040"/>
            <a:ext cx="2722778" cy="1371600"/>
          </a:xfrm>
          <a:prstGeom prst="rect">
            <a:avLst/>
          </a:prstGeom>
          <a:noFill/>
          <a:ln/>
        </p:spPr>
        <p:txBody>
          <a:bodyPr wrap="square" lIns="0" tIns="0" rIns="0" bIns="0" rtlCol="0" anchor="t"/>
          <a:lstStyle/>
          <a:p>
            <a:pPr indent="0" marL="0">
              <a:buNone/>
            </a:pPr>
            <a:r>
              <a:rPr lang="en-US" sz="1500" dirty="0">
                <a:solidFill>
                  <a:srgbClr val="3D4752"/>
                </a:solidFill>
                <a:latin typeface="Calibri" pitchFamily="34" charset="0"/>
                <a:ea typeface="Calibri" pitchFamily="34" charset="-122"/>
                <a:cs typeface="Calibri" pitchFamily="34" charset="-120"/>
              </a:rPr>
              <a:t>Give operators, laborers, foremen, and managers an easy way to find openings and apply, right from their phone.</a:t>
            </a:r>
            <a:endParaRPr lang="en-US" sz="1500" dirty="0"/>
          </a:p>
        </p:txBody>
      </p:sp>
      <p:sp>
        <p:nvSpPr>
          <p:cNvPr id="14" name="Shape 10"/>
          <p:cNvSpPr/>
          <p:nvPr/>
        </p:nvSpPr>
        <p:spPr>
          <a:xfrm>
            <a:off x="8188757" y="1828800"/>
            <a:ext cx="3454298" cy="3566160"/>
          </a:xfrm>
          <a:prstGeom prst="roundRect">
            <a:avLst>
              <a:gd name="adj" fmla="val 3177"/>
            </a:avLst>
          </a:prstGeom>
          <a:solidFill>
            <a:srgbClr val="F3F4F6"/>
          </a:solidFill>
          <a:ln w="12700">
            <a:solidFill>
              <a:srgbClr val="F3F4F6"/>
            </a:solidFill>
            <a:prstDash val="solid"/>
          </a:ln>
        </p:spPr>
      </p:sp>
      <p:sp>
        <p:nvSpPr>
          <p:cNvPr id="15" name="Shape 11"/>
          <p:cNvSpPr/>
          <p:nvPr/>
        </p:nvSpPr>
        <p:spPr>
          <a:xfrm>
            <a:off x="8554517" y="2194560"/>
            <a:ext cx="731520" cy="731520"/>
          </a:xfrm>
          <a:prstGeom prst="ellipse">
            <a:avLst/>
          </a:prstGeom>
          <a:solidFill>
            <a:srgbClr val="F7C92D"/>
          </a:solidFill>
          <a:ln w="12700">
            <a:solidFill>
              <a:srgbClr val="F7C92D"/>
            </a:solidFill>
            <a:prstDash val="solid"/>
          </a:ln>
        </p:spPr>
      </p:sp>
      <p:pic>
        <p:nvPicPr>
          <p:cNvPr id="16" name="Image 2" descr="preencoded.png">    </p:cNvPr>
          <p:cNvPicPr>
            <a:picLocks noChangeAspect="1"/>
          </p:cNvPicPr>
          <p:nvPr/>
        </p:nvPicPr>
        <p:blipFill>
          <a:blip r:embed="rId3"/>
          <a:stretch>
            <a:fillRect/>
          </a:stretch>
        </p:blipFill>
        <p:spPr>
          <a:xfrm>
            <a:off x="8744712" y="2384755"/>
            <a:ext cx="351130" cy="351130"/>
          </a:xfrm>
          <a:prstGeom prst="rect">
            <a:avLst/>
          </a:prstGeom>
        </p:spPr>
      </p:pic>
      <p:sp>
        <p:nvSpPr>
          <p:cNvPr id="17" name="Text 12"/>
          <p:cNvSpPr txBox="1"/>
          <p:nvPr/>
        </p:nvSpPr>
        <p:spPr>
          <a:xfrm>
            <a:off x="8554517" y="3200400"/>
            <a:ext cx="2722778" cy="457200"/>
          </a:xfrm>
          <a:prstGeom prst="rect">
            <a:avLst/>
          </a:prstGeom>
          <a:noFill/>
          <a:ln/>
        </p:spPr>
        <p:txBody>
          <a:bodyPr wrap="square" lIns="0" tIns="0" rIns="0" bIns="0" rtlCol="0" anchor="ctr"/>
          <a:lstStyle/>
          <a:p>
            <a:pPr indent="0" marL="0">
              <a:buNone/>
            </a:pPr>
            <a:r>
              <a:rPr lang="en-US" sz="2100" b="1" dirty="0">
                <a:solidFill>
                  <a:srgbClr val="1F2933"/>
                </a:solidFill>
                <a:latin typeface="Arial" pitchFamily="34" charset="0"/>
                <a:ea typeface="Arial" pitchFamily="34" charset="-122"/>
                <a:cs typeface="Arial" pitchFamily="34" charset="-120"/>
              </a:rPr>
              <a:t>Win the right subs</a:t>
            </a:r>
            <a:endParaRPr lang="en-US" sz="2100" dirty="0"/>
          </a:p>
        </p:txBody>
      </p:sp>
      <p:sp>
        <p:nvSpPr>
          <p:cNvPr id="18" name="Text 13"/>
          <p:cNvSpPr txBox="1"/>
          <p:nvPr/>
        </p:nvSpPr>
        <p:spPr>
          <a:xfrm>
            <a:off x="8554517" y="3749040"/>
            <a:ext cx="2722778" cy="1371600"/>
          </a:xfrm>
          <a:prstGeom prst="rect">
            <a:avLst/>
          </a:prstGeom>
          <a:noFill/>
          <a:ln/>
        </p:spPr>
        <p:txBody>
          <a:bodyPr wrap="square" lIns="0" tIns="0" rIns="0" bIns="0" rtlCol="0" anchor="t"/>
          <a:lstStyle/>
          <a:p>
            <a:pPr indent="0" marL="0">
              <a:buNone/>
            </a:pPr>
            <a:r>
              <a:rPr lang="en-US" sz="1500" dirty="0">
                <a:solidFill>
                  <a:srgbClr val="3D4752"/>
                </a:solidFill>
                <a:latin typeface="Calibri" pitchFamily="34" charset="0"/>
                <a:ea typeface="Calibri" pitchFamily="34" charset="-122"/>
                <a:cs typeface="Calibri" pitchFamily="34" charset="-120"/>
              </a:rPr>
              <a:t>Post subcontract packages on awarded contracts and collect interest, bids, and prequalification in one place.</a:t>
            </a:r>
            <a:endParaRPr lang="en-US" sz="1500" dirty="0"/>
          </a:p>
        </p:txBody>
      </p:sp>
      <p:sp>
        <p:nvSpPr>
          <p:cNvPr id="19" name="Text 14"/>
          <p:cNvSpPr txBox="1"/>
          <p:nvPr/>
        </p:nvSpPr>
        <p:spPr>
          <a:xfrm>
            <a:off x="548640" y="5760720"/>
            <a:ext cx="9144000" cy="320040"/>
          </a:xfrm>
          <a:prstGeom prst="rect">
            <a:avLst/>
          </a:prstGeom>
          <a:noFill/>
          <a:ln/>
        </p:spPr>
        <p:txBody>
          <a:bodyPr wrap="square" lIns="0" tIns="0" rIns="0" bIns="0" rtlCol="0" anchor="ctr"/>
          <a:lstStyle/>
          <a:p>
            <a:pPr indent="0" marL="0">
              <a:buNone/>
            </a:pPr>
            <a:r>
              <a:rPr lang="en-US" sz="1200" i="1" dirty="0">
                <a:solidFill>
                  <a:srgbClr val="6B7580"/>
                </a:solidFill>
                <a:latin typeface="Calibri" pitchFamily="34" charset="0"/>
                <a:ea typeface="Calibri" pitchFamily="34" charset="-122"/>
                <a:cs typeface="Calibri" pitchFamily="34" charset="-120"/>
              </a:rPr>
              <a:t>Design direction informed by leading contractor sites: Kokosing, FNF, and Dan’s Excavating.</a:t>
            </a:r>
            <a:endParaRPr lang="en-US" sz="1200" dirty="0"/>
          </a:p>
        </p:txBody>
      </p:sp>
      <p:sp>
        <p:nvSpPr>
          <p:cNvPr id="20" name="Text 15"/>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21" name="Text 16"/>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THE SOLUTION</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One site, three audiences</a:t>
            </a:r>
            <a:endParaRPr lang="en-US" sz="3400" dirty="0"/>
          </a:p>
        </p:txBody>
      </p:sp>
      <p:sp>
        <p:nvSpPr>
          <p:cNvPr id="4" name="Shape 2"/>
          <p:cNvSpPr/>
          <p:nvPr/>
        </p:nvSpPr>
        <p:spPr>
          <a:xfrm>
            <a:off x="4907128" y="1691640"/>
            <a:ext cx="2377440" cy="594360"/>
          </a:xfrm>
          <a:prstGeom prst="roundRect">
            <a:avLst>
              <a:gd name="adj" fmla="val 12308"/>
            </a:avLst>
          </a:prstGeom>
          <a:solidFill>
            <a:srgbClr val="171C22"/>
          </a:solidFill>
          <a:ln w="12700">
            <a:solidFill>
              <a:srgbClr val="171C22"/>
            </a:solidFill>
            <a:prstDash val="solid"/>
          </a:ln>
        </p:spPr>
      </p:sp>
      <p:sp>
        <p:nvSpPr>
          <p:cNvPr id="5" name="Text 3"/>
          <p:cNvSpPr txBox="1"/>
          <p:nvPr/>
        </p:nvSpPr>
        <p:spPr>
          <a:xfrm>
            <a:off x="4907128" y="1691640"/>
            <a:ext cx="2377440" cy="5943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Home</a:t>
            </a:r>
            <a:endParaRPr lang="en-US" sz="1600" dirty="0"/>
          </a:p>
        </p:txBody>
      </p:sp>
      <p:sp>
        <p:nvSpPr>
          <p:cNvPr id="6" name="Shape 4"/>
          <p:cNvSpPr/>
          <p:nvPr/>
        </p:nvSpPr>
        <p:spPr>
          <a:xfrm>
            <a:off x="6095848" y="2286000"/>
            <a:ext cx="0" cy="320040"/>
          </a:xfrm>
          <a:prstGeom prst="line">
            <a:avLst/>
          </a:prstGeom>
          <a:noFill/>
          <a:ln w="19050">
            <a:solidFill>
              <a:srgbClr val="D5D9DE"/>
            </a:solidFill>
            <a:prstDash val="solid"/>
          </a:ln>
        </p:spPr>
      </p:sp>
      <p:sp>
        <p:nvSpPr>
          <p:cNvPr id="7" name="Shape 5"/>
          <p:cNvSpPr/>
          <p:nvPr/>
        </p:nvSpPr>
        <p:spPr>
          <a:xfrm>
            <a:off x="2240280" y="2606040"/>
            <a:ext cx="7711135" cy="0"/>
          </a:xfrm>
          <a:prstGeom prst="line">
            <a:avLst/>
          </a:prstGeom>
          <a:noFill/>
          <a:ln w="19050">
            <a:solidFill>
              <a:srgbClr val="D5D9DE"/>
            </a:solidFill>
            <a:prstDash val="solid"/>
          </a:ln>
        </p:spPr>
      </p:sp>
      <p:sp>
        <p:nvSpPr>
          <p:cNvPr id="8" name="Shape 6"/>
          <p:cNvSpPr/>
          <p:nvPr/>
        </p:nvSpPr>
        <p:spPr>
          <a:xfrm>
            <a:off x="2240280" y="2606040"/>
            <a:ext cx="0" cy="274320"/>
          </a:xfrm>
          <a:prstGeom prst="line">
            <a:avLst/>
          </a:prstGeom>
          <a:noFill/>
          <a:ln w="19050">
            <a:solidFill>
              <a:srgbClr val="D5D9DE"/>
            </a:solidFill>
            <a:prstDash val="solid"/>
          </a:ln>
        </p:spPr>
      </p:sp>
      <p:sp>
        <p:nvSpPr>
          <p:cNvPr id="9" name="Shape 7"/>
          <p:cNvSpPr/>
          <p:nvPr/>
        </p:nvSpPr>
        <p:spPr>
          <a:xfrm>
            <a:off x="548640" y="2880360"/>
            <a:ext cx="3383280" cy="2606040"/>
          </a:xfrm>
          <a:prstGeom prst="roundRect">
            <a:avLst>
              <a:gd name="adj" fmla="val 3509"/>
            </a:avLst>
          </a:prstGeom>
          <a:solidFill>
            <a:srgbClr val="F3F4F6"/>
          </a:solidFill>
          <a:ln w="12700">
            <a:solidFill>
              <a:srgbClr val="F3F4F6"/>
            </a:solidFill>
            <a:prstDash val="solid"/>
          </a:ln>
        </p:spPr>
      </p:sp>
      <p:sp>
        <p:nvSpPr>
          <p:cNvPr id="10" name="Shape 8"/>
          <p:cNvSpPr/>
          <p:nvPr/>
        </p:nvSpPr>
        <p:spPr>
          <a:xfrm>
            <a:off x="822960" y="3063240"/>
            <a:ext cx="502920" cy="502920"/>
          </a:xfrm>
          <a:prstGeom prst="ellipse">
            <a:avLst/>
          </a:prstGeom>
          <a:solidFill>
            <a:srgbClr val="F7C92D"/>
          </a:solidFill>
          <a:ln w="12700">
            <a:solidFill>
              <a:srgbClr val="F7C92D"/>
            </a:solidFill>
            <a:prstDash val="solid"/>
          </a:ln>
        </p:spPr>
      </p:sp>
      <p:pic>
        <p:nvPicPr>
          <p:cNvPr id="11" name="Image 0" descr="preencoded.png">    </p:cNvPr>
          <p:cNvPicPr>
            <a:picLocks noChangeAspect="1"/>
          </p:cNvPicPr>
          <p:nvPr/>
        </p:nvPicPr>
        <p:blipFill>
          <a:blip r:embed="rId1"/>
          <a:stretch>
            <a:fillRect/>
          </a:stretch>
        </p:blipFill>
        <p:spPr>
          <a:xfrm>
            <a:off x="953719" y="3193999"/>
            <a:ext cx="241402" cy="241402"/>
          </a:xfrm>
          <a:prstGeom prst="rect">
            <a:avLst/>
          </a:prstGeom>
        </p:spPr>
      </p:pic>
      <p:sp>
        <p:nvSpPr>
          <p:cNvPr id="12" name="Text 9"/>
          <p:cNvSpPr txBox="1"/>
          <p:nvPr/>
        </p:nvSpPr>
        <p:spPr>
          <a:xfrm>
            <a:off x="1463040" y="3063240"/>
            <a:ext cx="2286000" cy="502920"/>
          </a:xfrm>
          <a:prstGeom prst="rect">
            <a:avLst/>
          </a:prstGeom>
          <a:noFill/>
          <a:ln/>
        </p:spPr>
        <p:txBody>
          <a:bodyPr wrap="square" lIns="0" tIns="0" rIns="0" bIns="0" rtlCol="0" anchor="ctr"/>
          <a:lstStyle/>
          <a:p>
            <a:pPr indent="0" marL="0">
              <a:buNone/>
            </a:pPr>
            <a:r>
              <a:rPr lang="en-US" sz="1600" b="1" dirty="0">
                <a:solidFill>
                  <a:srgbClr val="1F2933"/>
                </a:solidFill>
                <a:latin typeface="Arial" pitchFamily="34" charset="0"/>
                <a:ea typeface="Arial" pitchFamily="34" charset="-122"/>
                <a:cs typeface="Arial" pitchFamily="34" charset="-120"/>
              </a:rPr>
              <a:t>Owners &amp; engineers</a:t>
            </a:r>
            <a:endParaRPr lang="en-US" sz="1600" dirty="0"/>
          </a:p>
        </p:txBody>
      </p:sp>
      <p:sp>
        <p:nvSpPr>
          <p:cNvPr id="13" name="Text 10"/>
          <p:cNvSpPr txBox="1"/>
          <p:nvPr/>
        </p:nvSpPr>
        <p:spPr>
          <a:xfrm>
            <a:off x="822960" y="3749040"/>
            <a:ext cx="29260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Services (per capability)</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Project portfolio</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Project detail pages</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About &amp; Safety</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Contact</a:t>
            </a:r>
            <a:endParaRPr lang="en-US" sz="1400" dirty="0"/>
          </a:p>
        </p:txBody>
      </p:sp>
      <p:sp>
        <p:nvSpPr>
          <p:cNvPr id="14" name="Shape 11"/>
          <p:cNvSpPr/>
          <p:nvPr/>
        </p:nvSpPr>
        <p:spPr>
          <a:xfrm>
            <a:off x="6095848" y="2606040"/>
            <a:ext cx="0" cy="274320"/>
          </a:xfrm>
          <a:prstGeom prst="line">
            <a:avLst/>
          </a:prstGeom>
          <a:noFill/>
          <a:ln w="19050">
            <a:solidFill>
              <a:srgbClr val="D5D9DE"/>
            </a:solidFill>
            <a:prstDash val="solid"/>
          </a:ln>
        </p:spPr>
      </p:sp>
      <p:sp>
        <p:nvSpPr>
          <p:cNvPr id="15" name="Shape 12"/>
          <p:cNvSpPr/>
          <p:nvPr/>
        </p:nvSpPr>
        <p:spPr>
          <a:xfrm>
            <a:off x="4404208" y="2880360"/>
            <a:ext cx="3383280" cy="2606040"/>
          </a:xfrm>
          <a:prstGeom prst="roundRect">
            <a:avLst>
              <a:gd name="adj" fmla="val 3509"/>
            </a:avLst>
          </a:prstGeom>
          <a:solidFill>
            <a:srgbClr val="F3F4F6"/>
          </a:solidFill>
          <a:ln w="12700">
            <a:solidFill>
              <a:srgbClr val="F3F4F6"/>
            </a:solidFill>
            <a:prstDash val="solid"/>
          </a:ln>
        </p:spPr>
      </p:sp>
      <p:sp>
        <p:nvSpPr>
          <p:cNvPr id="16" name="Shape 13"/>
          <p:cNvSpPr/>
          <p:nvPr/>
        </p:nvSpPr>
        <p:spPr>
          <a:xfrm>
            <a:off x="4678528" y="3063240"/>
            <a:ext cx="502920" cy="502920"/>
          </a:xfrm>
          <a:prstGeom prst="ellipse">
            <a:avLst/>
          </a:prstGeom>
          <a:solidFill>
            <a:srgbClr val="F7C92D"/>
          </a:solidFill>
          <a:ln w="12700">
            <a:solidFill>
              <a:srgbClr val="F7C92D"/>
            </a:solidFill>
            <a:prstDash val="solid"/>
          </a:ln>
        </p:spPr>
      </p:sp>
      <p:pic>
        <p:nvPicPr>
          <p:cNvPr id="17" name="Image 1" descr="preencoded.png">    </p:cNvPr>
          <p:cNvPicPr>
            <a:picLocks noChangeAspect="1"/>
          </p:cNvPicPr>
          <p:nvPr/>
        </p:nvPicPr>
        <p:blipFill>
          <a:blip r:embed="rId2"/>
          <a:stretch>
            <a:fillRect/>
          </a:stretch>
        </p:blipFill>
        <p:spPr>
          <a:xfrm>
            <a:off x="4809287" y="3193999"/>
            <a:ext cx="241402" cy="241402"/>
          </a:xfrm>
          <a:prstGeom prst="rect">
            <a:avLst/>
          </a:prstGeom>
        </p:spPr>
      </p:pic>
      <p:sp>
        <p:nvSpPr>
          <p:cNvPr id="18" name="Text 14"/>
          <p:cNvSpPr txBox="1"/>
          <p:nvPr/>
        </p:nvSpPr>
        <p:spPr>
          <a:xfrm>
            <a:off x="5318608" y="3063240"/>
            <a:ext cx="2286000" cy="502920"/>
          </a:xfrm>
          <a:prstGeom prst="rect">
            <a:avLst/>
          </a:prstGeom>
          <a:noFill/>
          <a:ln/>
        </p:spPr>
        <p:txBody>
          <a:bodyPr wrap="square" lIns="0" tIns="0" rIns="0" bIns="0" rtlCol="0" anchor="ctr"/>
          <a:lstStyle/>
          <a:p>
            <a:pPr indent="0" marL="0">
              <a:buNone/>
            </a:pPr>
            <a:r>
              <a:rPr lang="en-US" sz="1600" b="1" dirty="0">
                <a:solidFill>
                  <a:srgbClr val="1F2933"/>
                </a:solidFill>
                <a:latin typeface="Arial" pitchFamily="34" charset="0"/>
                <a:ea typeface="Arial" pitchFamily="34" charset="-122"/>
                <a:cs typeface="Arial" pitchFamily="34" charset="-120"/>
              </a:rPr>
              <a:t>Job seekers</a:t>
            </a:r>
            <a:endParaRPr lang="en-US" sz="1600" dirty="0"/>
          </a:p>
        </p:txBody>
      </p:sp>
      <p:sp>
        <p:nvSpPr>
          <p:cNvPr id="19" name="Text 15"/>
          <p:cNvSpPr txBox="1"/>
          <p:nvPr/>
        </p:nvSpPr>
        <p:spPr>
          <a:xfrm>
            <a:off x="4678528" y="3749040"/>
            <a:ext cx="29260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Careers &amp; benefits</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Open positions (filterable)</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Job detail pages</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Mobile application</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Confirmation + email</a:t>
            </a:r>
            <a:endParaRPr lang="en-US" sz="1400" dirty="0"/>
          </a:p>
        </p:txBody>
      </p:sp>
      <p:sp>
        <p:nvSpPr>
          <p:cNvPr id="20" name="Shape 16"/>
          <p:cNvSpPr/>
          <p:nvPr/>
        </p:nvSpPr>
        <p:spPr>
          <a:xfrm>
            <a:off x="9951415" y="2606040"/>
            <a:ext cx="0" cy="274320"/>
          </a:xfrm>
          <a:prstGeom prst="line">
            <a:avLst/>
          </a:prstGeom>
          <a:noFill/>
          <a:ln w="19050">
            <a:solidFill>
              <a:srgbClr val="D5D9DE"/>
            </a:solidFill>
            <a:prstDash val="solid"/>
          </a:ln>
        </p:spPr>
      </p:sp>
      <p:sp>
        <p:nvSpPr>
          <p:cNvPr id="21" name="Shape 17"/>
          <p:cNvSpPr/>
          <p:nvPr/>
        </p:nvSpPr>
        <p:spPr>
          <a:xfrm>
            <a:off x="8259775" y="2880360"/>
            <a:ext cx="3383280" cy="2606040"/>
          </a:xfrm>
          <a:prstGeom prst="roundRect">
            <a:avLst>
              <a:gd name="adj" fmla="val 3509"/>
            </a:avLst>
          </a:prstGeom>
          <a:solidFill>
            <a:srgbClr val="F3F4F6"/>
          </a:solidFill>
          <a:ln w="12700">
            <a:solidFill>
              <a:srgbClr val="F3F4F6"/>
            </a:solidFill>
            <a:prstDash val="solid"/>
          </a:ln>
        </p:spPr>
      </p:sp>
      <p:sp>
        <p:nvSpPr>
          <p:cNvPr id="22" name="Shape 18"/>
          <p:cNvSpPr/>
          <p:nvPr/>
        </p:nvSpPr>
        <p:spPr>
          <a:xfrm>
            <a:off x="8534095" y="3063240"/>
            <a:ext cx="502920" cy="502920"/>
          </a:xfrm>
          <a:prstGeom prst="ellipse">
            <a:avLst/>
          </a:prstGeom>
          <a:solidFill>
            <a:srgbClr val="F7C92D"/>
          </a:solidFill>
          <a:ln w="12700">
            <a:solidFill>
              <a:srgbClr val="F7C92D"/>
            </a:solidFill>
            <a:prstDash val="solid"/>
          </a:ln>
        </p:spPr>
      </p:sp>
      <p:pic>
        <p:nvPicPr>
          <p:cNvPr id="23" name="Image 2" descr="preencoded.png">    </p:cNvPr>
          <p:cNvPicPr>
            <a:picLocks noChangeAspect="1"/>
          </p:cNvPicPr>
          <p:nvPr/>
        </p:nvPicPr>
        <p:blipFill>
          <a:blip r:embed="rId3"/>
          <a:stretch>
            <a:fillRect/>
          </a:stretch>
        </p:blipFill>
        <p:spPr>
          <a:xfrm>
            <a:off x="8664854" y="3193999"/>
            <a:ext cx="241402" cy="241402"/>
          </a:xfrm>
          <a:prstGeom prst="rect">
            <a:avLst/>
          </a:prstGeom>
        </p:spPr>
      </p:pic>
      <p:sp>
        <p:nvSpPr>
          <p:cNvPr id="24" name="Text 19"/>
          <p:cNvSpPr txBox="1"/>
          <p:nvPr/>
        </p:nvSpPr>
        <p:spPr>
          <a:xfrm>
            <a:off x="9174175" y="3063240"/>
            <a:ext cx="2286000" cy="502920"/>
          </a:xfrm>
          <a:prstGeom prst="rect">
            <a:avLst/>
          </a:prstGeom>
          <a:noFill/>
          <a:ln/>
        </p:spPr>
        <p:txBody>
          <a:bodyPr wrap="square" lIns="0" tIns="0" rIns="0" bIns="0" rtlCol="0" anchor="ctr"/>
          <a:lstStyle/>
          <a:p>
            <a:pPr indent="0" marL="0">
              <a:buNone/>
            </a:pPr>
            <a:r>
              <a:rPr lang="en-US" sz="1600" b="1" dirty="0">
                <a:solidFill>
                  <a:srgbClr val="1F2933"/>
                </a:solidFill>
                <a:latin typeface="Arial" pitchFamily="34" charset="0"/>
                <a:ea typeface="Arial" pitchFamily="34" charset="-122"/>
                <a:cs typeface="Arial" pitchFamily="34" charset="-120"/>
              </a:rPr>
              <a:t>Subcontractors</a:t>
            </a:r>
            <a:endParaRPr lang="en-US" sz="1600" dirty="0"/>
          </a:p>
        </p:txBody>
      </p:sp>
      <p:sp>
        <p:nvSpPr>
          <p:cNvPr id="25" name="Text 20"/>
          <p:cNvSpPr txBox="1"/>
          <p:nvPr/>
        </p:nvSpPr>
        <p:spPr>
          <a:xfrm>
            <a:off x="8534095" y="3749040"/>
            <a:ext cx="292608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How to work with us</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Bid opportunities board</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Package pages + bid form</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Registration / prequal</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Confirmation + email</a:t>
            </a:r>
            <a:endParaRPr lang="en-US" sz="1400" dirty="0"/>
          </a:p>
        </p:txBody>
      </p:sp>
      <p:sp>
        <p:nvSpPr>
          <p:cNvPr id="26" name="Text 21"/>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27" name="Text 22"/>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SHOWCASE OF WORK</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Let the projects sell the company</a:t>
            </a:r>
            <a:endParaRPr lang="en-US" sz="3400" dirty="0"/>
          </a:p>
        </p:txBody>
      </p:sp>
      <p:sp>
        <p:nvSpPr>
          <p:cNvPr id="4" name="Shape 2"/>
          <p:cNvSpPr/>
          <p:nvPr/>
        </p:nvSpPr>
        <p:spPr>
          <a:xfrm>
            <a:off x="548640" y="1783080"/>
            <a:ext cx="566928" cy="566928"/>
          </a:xfrm>
          <a:prstGeom prst="ellipse">
            <a:avLst/>
          </a:prstGeom>
          <a:solidFill>
            <a:srgbClr val="F7C92D"/>
          </a:solidFill>
          <a:ln w="12700">
            <a:solidFill>
              <a:srgbClr val="F7C92D"/>
            </a:solidFill>
            <a:prstDash val="solid"/>
          </a:ln>
        </p:spPr>
      </p:sp>
      <p:pic>
        <p:nvPicPr>
          <p:cNvPr id="5" name="Image 0" descr="preencoded.png">    </p:cNvPr>
          <p:cNvPicPr>
            <a:picLocks noChangeAspect="1"/>
          </p:cNvPicPr>
          <p:nvPr/>
        </p:nvPicPr>
        <p:blipFill>
          <a:blip r:embed="rId1"/>
          <a:stretch>
            <a:fillRect/>
          </a:stretch>
        </p:blipFill>
        <p:spPr>
          <a:xfrm>
            <a:off x="696041" y="1930481"/>
            <a:ext cx="272125" cy="272125"/>
          </a:xfrm>
          <a:prstGeom prst="rect">
            <a:avLst/>
          </a:prstGeom>
        </p:spPr>
      </p:pic>
      <p:sp>
        <p:nvSpPr>
          <p:cNvPr id="6" name="Text 3"/>
          <p:cNvSpPr txBox="1"/>
          <p:nvPr/>
        </p:nvSpPr>
        <p:spPr>
          <a:xfrm>
            <a:off x="1325880" y="1764792"/>
            <a:ext cx="3931920" cy="32004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Filterable portfolio</a:t>
            </a:r>
            <a:endParaRPr lang="en-US" sz="1700" dirty="0"/>
          </a:p>
        </p:txBody>
      </p:sp>
      <p:sp>
        <p:nvSpPr>
          <p:cNvPr id="7" name="Text 4"/>
          <p:cNvSpPr txBox="1"/>
          <p:nvPr/>
        </p:nvSpPr>
        <p:spPr>
          <a:xfrm>
            <a:off x="1325880" y="2112264"/>
            <a:ext cx="3931920" cy="64008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Browse by service, market, and year. Filtered views are shareable links.</a:t>
            </a:r>
            <a:endParaRPr lang="en-US" sz="1400" dirty="0"/>
          </a:p>
        </p:txBody>
      </p:sp>
      <p:sp>
        <p:nvSpPr>
          <p:cNvPr id="8" name="Shape 5"/>
          <p:cNvSpPr/>
          <p:nvPr/>
        </p:nvSpPr>
        <p:spPr>
          <a:xfrm>
            <a:off x="548640" y="2862072"/>
            <a:ext cx="566928" cy="566928"/>
          </a:xfrm>
          <a:prstGeom prst="ellipse">
            <a:avLst/>
          </a:prstGeom>
          <a:solidFill>
            <a:srgbClr val="F7C92D"/>
          </a:solidFill>
          <a:ln w="12700">
            <a:solidFill>
              <a:srgbClr val="F7C92D"/>
            </a:solidFill>
            <a:prstDash val="solid"/>
          </a:ln>
        </p:spPr>
      </p:sp>
      <p:pic>
        <p:nvPicPr>
          <p:cNvPr id="9" name="Image 1" descr="preencoded.png">    </p:cNvPr>
          <p:cNvPicPr>
            <a:picLocks noChangeAspect="1"/>
          </p:cNvPicPr>
          <p:nvPr/>
        </p:nvPicPr>
        <p:blipFill>
          <a:blip r:embed="rId2"/>
          <a:stretch>
            <a:fillRect/>
          </a:stretch>
        </p:blipFill>
        <p:spPr>
          <a:xfrm>
            <a:off x="696041" y="3009473"/>
            <a:ext cx="272125" cy="272125"/>
          </a:xfrm>
          <a:prstGeom prst="rect">
            <a:avLst/>
          </a:prstGeom>
        </p:spPr>
      </p:pic>
      <p:sp>
        <p:nvSpPr>
          <p:cNvPr id="10" name="Text 6"/>
          <p:cNvSpPr txBox="1"/>
          <p:nvPr/>
        </p:nvSpPr>
        <p:spPr>
          <a:xfrm>
            <a:off x="1325880" y="2843784"/>
            <a:ext cx="3931920" cy="32004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Project stories</a:t>
            </a:r>
            <a:endParaRPr lang="en-US" sz="1700" dirty="0"/>
          </a:p>
        </p:txBody>
      </p:sp>
      <p:sp>
        <p:nvSpPr>
          <p:cNvPr id="11" name="Text 7"/>
          <p:cNvSpPr txBox="1"/>
          <p:nvPr/>
        </p:nvSpPr>
        <p:spPr>
          <a:xfrm>
            <a:off x="1325880" y="3191256"/>
            <a:ext cx="3931920" cy="64008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Scope, challenge, result, key facts, and a photo gallery for every job.</a:t>
            </a:r>
            <a:endParaRPr lang="en-US" sz="1400" dirty="0"/>
          </a:p>
        </p:txBody>
      </p:sp>
      <p:sp>
        <p:nvSpPr>
          <p:cNvPr id="12" name="Shape 8"/>
          <p:cNvSpPr/>
          <p:nvPr/>
        </p:nvSpPr>
        <p:spPr>
          <a:xfrm>
            <a:off x="548640" y="3941064"/>
            <a:ext cx="566928" cy="566928"/>
          </a:xfrm>
          <a:prstGeom prst="ellipse">
            <a:avLst/>
          </a:prstGeom>
          <a:solidFill>
            <a:srgbClr val="F7C92D"/>
          </a:solidFill>
          <a:ln w="12700">
            <a:solidFill>
              <a:srgbClr val="F7C92D"/>
            </a:solidFill>
            <a:prstDash val="solid"/>
          </a:ln>
        </p:spPr>
      </p:sp>
      <p:pic>
        <p:nvPicPr>
          <p:cNvPr id="13" name="Image 2" descr="preencoded.png">    </p:cNvPr>
          <p:cNvPicPr>
            <a:picLocks noChangeAspect="1"/>
          </p:cNvPicPr>
          <p:nvPr/>
        </p:nvPicPr>
        <p:blipFill>
          <a:blip r:embed="rId3"/>
          <a:stretch>
            <a:fillRect/>
          </a:stretch>
        </p:blipFill>
        <p:spPr>
          <a:xfrm>
            <a:off x="696041" y="4088465"/>
            <a:ext cx="272125" cy="272125"/>
          </a:xfrm>
          <a:prstGeom prst="rect">
            <a:avLst/>
          </a:prstGeom>
        </p:spPr>
      </p:pic>
      <p:sp>
        <p:nvSpPr>
          <p:cNvPr id="14" name="Text 9"/>
          <p:cNvSpPr txBox="1"/>
          <p:nvPr/>
        </p:nvSpPr>
        <p:spPr>
          <a:xfrm>
            <a:off x="1325880" y="3922776"/>
            <a:ext cx="3931920" cy="32004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Capabilities pages</a:t>
            </a:r>
            <a:endParaRPr lang="en-US" sz="1700" dirty="0"/>
          </a:p>
        </p:txBody>
      </p:sp>
      <p:sp>
        <p:nvSpPr>
          <p:cNvPr id="15" name="Text 10"/>
          <p:cNvSpPr txBox="1"/>
          <p:nvPr/>
        </p:nvSpPr>
        <p:spPr>
          <a:xfrm>
            <a:off x="1325880" y="4270248"/>
            <a:ext cx="3931920" cy="64008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Each service line links to the projects that prove it.</a:t>
            </a:r>
            <a:endParaRPr lang="en-US" sz="1400" dirty="0"/>
          </a:p>
        </p:txBody>
      </p:sp>
      <p:sp>
        <p:nvSpPr>
          <p:cNvPr id="16" name="Shape 11"/>
          <p:cNvSpPr/>
          <p:nvPr/>
        </p:nvSpPr>
        <p:spPr>
          <a:xfrm>
            <a:off x="548640" y="5020056"/>
            <a:ext cx="566928" cy="566928"/>
          </a:xfrm>
          <a:prstGeom prst="ellipse">
            <a:avLst/>
          </a:prstGeom>
          <a:solidFill>
            <a:srgbClr val="F7C92D"/>
          </a:solidFill>
          <a:ln w="12700">
            <a:solidFill>
              <a:srgbClr val="F7C92D"/>
            </a:solidFill>
            <a:prstDash val="solid"/>
          </a:ln>
        </p:spPr>
      </p:sp>
      <p:pic>
        <p:nvPicPr>
          <p:cNvPr id="17" name="Image 3" descr="preencoded.png">    </p:cNvPr>
          <p:cNvPicPr>
            <a:picLocks noChangeAspect="1"/>
          </p:cNvPicPr>
          <p:nvPr/>
        </p:nvPicPr>
        <p:blipFill>
          <a:blip r:embed="rId4"/>
          <a:stretch>
            <a:fillRect/>
          </a:stretch>
        </p:blipFill>
        <p:spPr>
          <a:xfrm>
            <a:off x="696041" y="5167457"/>
            <a:ext cx="272125" cy="272125"/>
          </a:xfrm>
          <a:prstGeom prst="rect">
            <a:avLst/>
          </a:prstGeom>
        </p:spPr>
      </p:pic>
      <p:sp>
        <p:nvSpPr>
          <p:cNvPr id="18" name="Text 12"/>
          <p:cNvSpPr txBox="1"/>
          <p:nvPr/>
        </p:nvSpPr>
        <p:spPr>
          <a:xfrm>
            <a:off x="1325880" y="5001768"/>
            <a:ext cx="3931920" cy="32004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Staff-managed</a:t>
            </a:r>
            <a:endParaRPr lang="en-US" sz="1700" dirty="0"/>
          </a:p>
        </p:txBody>
      </p:sp>
      <p:sp>
        <p:nvSpPr>
          <p:cNvPr id="19" name="Text 13"/>
          <p:cNvSpPr txBox="1"/>
          <p:nvPr/>
        </p:nvSpPr>
        <p:spPr>
          <a:xfrm>
            <a:off x="1325880" y="5349240"/>
            <a:ext cx="3931920" cy="64008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Marketing adds new projects in the CMS, with no developer needed.</a:t>
            </a:r>
            <a:endParaRPr lang="en-US" sz="1400" dirty="0"/>
          </a:p>
        </p:txBody>
      </p:sp>
      <p:sp>
        <p:nvSpPr>
          <p:cNvPr id="20" name="Shape 14"/>
          <p:cNvSpPr/>
          <p:nvPr/>
        </p:nvSpPr>
        <p:spPr>
          <a:xfrm>
            <a:off x="5623560" y="1691640"/>
            <a:ext cx="6035040" cy="3806190"/>
          </a:xfrm>
          <a:prstGeom prst="rect">
            <a:avLst/>
          </a:prstGeom>
          <a:solidFill>
            <a:srgbClr val="FFFFFF"/>
          </a:solidFill>
          <a:ln w="9525">
            <a:solidFill>
              <a:srgbClr val="D5D9DE"/>
            </a:solidFill>
            <a:prstDash val="solid"/>
          </a:ln>
          <a:effectLst>
            <a:outerShdw sx="100000" sy="100000" kx="0" ky="0" algn="bl" rotWithShape="0" blurRad="152400" dist="50800" dir="5400000">
              <a:srgbClr val="000000">
                <a:alpha val="18000"/>
              </a:srgbClr>
            </a:outerShdw>
          </a:effectLst>
        </p:spPr>
      </p:sp>
      <p:pic>
        <p:nvPicPr>
          <p:cNvPr id="21" name="Image 4" descr="/tmp/claude-0/-home-user-pamar/b73e6f80-a414-5ae8-90eb-ab78d9502716/scratchpad/deck/img/projects.png">    </p:cNvPr>
          <p:cNvPicPr>
            <a:picLocks noChangeAspect="1"/>
          </p:cNvPicPr>
          <p:nvPr/>
        </p:nvPicPr>
        <p:blipFill>
          <a:blip r:embed="rId5"/>
          <a:stretch>
            <a:fillRect/>
          </a:stretch>
        </p:blipFill>
        <p:spPr>
          <a:xfrm>
            <a:off x="5669280" y="1737360"/>
            <a:ext cx="5943600" cy="3714750"/>
          </a:xfrm>
          <a:prstGeom prst="rect">
            <a:avLst/>
          </a:prstGeom>
        </p:spPr>
      </p:pic>
      <p:sp>
        <p:nvSpPr>
          <p:cNvPr id="22" name="Text 15"/>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23" name="Text 16"/>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CAREERS FUNNEL</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From job post to applicant in minutes</a:t>
            </a:r>
            <a:endParaRPr lang="en-US" sz="3400" dirty="0"/>
          </a:p>
        </p:txBody>
      </p:sp>
      <p:sp>
        <p:nvSpPr>
          <p:cNvPr id="4" name="Shape 2"/>
          <p:cNvSpPr/>
          <p:nvPr/>
        </p:nvSpPr>
        <p:spPr>
          <a:xfrm>
            <a:off x="548640" y="1783080"/>
            <a:ext cx="457200" cy="457200"/>
          </a:xfrm>
          <a:prstGeom prst="ellipse">
            <a:avLst/>
          </a:prstGeom>
          <a:solidFill>
            <a:srgbClr val="F7C92D"/>
          </a:solidFill>
          <a:ln w="12700">
            <a:solidFill>
              <a:srgbClr val="F7C92D"/>
            </a:solidFill>
            <a:prstDash val="solid"/>
          </a:ln>
        </p:spPr>
      </p:sp>
      <p:sp>
        <p:nvSpPr>
          <p:cNvPr id="5" name="Text 3"/>
          <p:cNvSpPr txBox="1"/>
          <p:nvPr/>
        </p:nvSpPr>
        <p:spPr>
          <a:xfrm>
            <a:off x="548640" y="1783080"/>
            <a:ext cx="457200" cy="457200"/>
          </a:xfrm>
          <a:prstGeom prst="rect">
            <a:avLst/>
          </a:prstGeom>
          <a:noFill/>
          <a:ln/>
        </p:spPr>
        <p:txBody>
          <a:bodyPr wrap="square" lIns="0" tIns="0" rIns="0" bIns="0" rtlCol="0" anchor="ctr"/>
          <a:lstStyle/>
          <a:p>
            <a:pPr algn="ctr" indent="0" marL="0">
              <a:buNone/>
            </a:pPr>
            <a:r>
              <a:rPr lang="en-US" sz="1600" b="1" dirty="0">
                <a:solidFill>
                  <a:srgbClr val="171C22"/>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1234440" y="1764792"/>
            <a:ext cx="5120640" cy="32004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Find the right opening</a:t>
            </a:r>
            <a:endParaRPr lang="en-US" sz="1700" dirty="0"/>
          </a:p>
        </p:txBody>
      </p:sp>
      <p:sp>
        <p:nvSpPr>
          <p:cNvPr id="7" name="Text 5"/>
          <p:cNvSpPr txBox="1"/>
          <p:nvPr/>
        </p:nvSpPr>
        <p:spPr>
          <a:xfrm>
            <a:off x="1234440" y="2112264"/>
            <a:ext cx="5120640" cy="54864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Filter by department, location, and full-time or seasonal.</a:t>
            </a:r>
            <a:endParaRPr lang="en-US" sz="1400" dirty="0"/>
          </a:p>
        </p:txBody>
      </p:sp>
      <p:sp>
        <p:nvSpPr>
          <p:cNvPr id="8" name="Shape 6"/>
          <p:cNvSpPr/>
          <p:nvPr/>
        </p:nvSpPr>
        <p:spPr>
          <a:xfrm>
            <a:off x="548640" y="2834640"/>
            <a:ext cx="457200" cy="457200"/>
          </a:xfrm>
          <a:prstGeom prst="ellipse">
            <a:avLst/>
          </a:prstGeom>
          <a:solidFill>
            <a:srgbClr val="F7C92D"/>
          </a:solidFill>
          <a:ln w="12700">
            <a:solidFill>
              <a:srgbClr val="F7C92D"/>
            </a:solidFill>
            <a:prstDash val="solid"/>
          </a:ln>
        </p:spPr>
      </p:sp>
      <p:sp>
        <p:nvSpPr>
          <p:cNvPr id="9" name="Text 7"/>
          <p:cNvSpPr txBox="1"/>
          <p:nvPr/>
        </p:nvSpPr>
        <p:spPr>
          <a:xfrm>
            <a:off x="548640" y="2834640"/>
            <a:ext cx="457200" cy="457200"/>
          </a:xfrm>
          <a:prstGeom prst="rect">
            <a:avLst/>
          </a:prstGeom>
          <a:noFill/>
          <a:ln/>
        </p:spPr>
        <p:txBody>
          <a:bodyPr wrap="square" lIns="0" tIns="0" rIns="0" bIns="0" rtlCol="0" anchor="ctr"/>
          <a:lstStyle/>
          <a:p>
            <a:pPr algn="ctr" indent="0" marL="0">
              <a:buNone/>
            </a:pPr>
            <a:r>
              <a:rPr lang="en-US" sz="1600" b="1" dirty="0">
                <a:solidFill>
                  <a:srgbClr val="171C22"/>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1234440" y="2816352"/>
            <a:ext cx="5120640" cy="32004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Apply from a phone</a:t>
            </a:r>
            <a:endParaRPr lang="en-US" sz="1700" dirty="0"/>
          </a:p>
        </p:txBody>
      </p:sp>
      <p:sp>
        <p:nvSpPr>
          <p:cNvPr id="11" name="Text 9"/>
          <p:cNvSpPr txBox="1"/>
          <p:nvPr/>
        </p:nvSpPr>
        <p:spPr>
          <a:xfrm>
            <a:off x="1234440" y="3163824"/>
            <a:ext cx="5120640" cy="54864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Short form with certifications (CDL, OSHA) and resume upload.</a:t>
            </a:r>
            <a:endParaRPr lang="en-US" sz="1400" dirty="0"/>
          </a:p>
        </p:txBody>
      </p:sp>
      <p:sp>
        <p:nvSpPr>
          <p:cNvPr id="12" name="Shape 10"/>
          <p:cNvSpPr/>
          <p:nvPr/>
        </p:nvSpPr>
        <p:spPr>
          <a:xfrm>
            <a:off x="548640" y="3886200"/>
            <a:ext cx="457200" cy="457200"/>
          </a:xfrm>
          <a:prstGeom prst="ellipse">
            <a:avLst/>
          </a:prstGeom>
          <a:solidFill>
            <a:srgbClr val="F7C92D"/>
          </a:solidFill>
          <a:ln w="12700">
            <a:solidFill>
              <a:srgbClr val="F7C92D"/>
            </a:solidFill>
            <a:prstDash val="solid"/>
          </a:ln>
        </p:spPr>
      </p:sp>
      <p:sp>
        <p:nvSpPr>
          <p:cNvPr id="13" name="Text 11"/>
          <p:cNvSpPr txBox="1"/>
          <p:nvPr/>
        </p:nvSpPr>
        <p:spPr>
          <a:xfrm>
            <a:off x="548640" y="3886200"/>
            <a:ext cx="457200" cy="457200"/>
          </a:xfrm>
          <a:prstGeom prst="rect">
            <a:avLst/>
          </a:prstGeom>
          <a:noFill/>
          <a:ln/>
        </p:spPr>
        <p:txBody>
          <a:bodyPr wrap="square" lIns="0" tIns="0" rIns="0" bIns="0" rtlCol="0" anchor="ctr"/>
          <a:lstStyle/>
          <a:p>
            <a:pPr algn="ctr" indent="0" marL="0">
              <a:buNone/>
            </a:pPr>
            <a:r>
              <a:rPr lang="en-US" sz="1600" b="1" dirty="0">
                <a:solidFill>
                  <a:srgbClr val="171C22"/>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1234440" y="3867912"/>
            <a:ext cx="5120640" cy="32004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HR gets it instantly</a:t>
            </a:r>
            <a:endParaRPr lang="en-US" sz="1700" dirty="0"/>
          </a:p>
        </p:txBody>
      </p:sp>
      <p:sp>
        <p:nvSpPr>
          <p:cNvPr id="15" name="Text 13"/>
          <p:cNvSpPr txBox="1"/>
          <p:nvPr/>
        </p:nvSpPr>
        <p:spPr>
          <a:xfrm>
            <a:off x="1234440" y="4215384"/>
            <a:ext cx="5120640" cy="54864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Email with the resume attached; the applicant gets a confirmation.</a:t>
            </a:r>
            <a:endParaRPr lang="en-US" sz="1400" dirty="0"/>
          </a:p>
        </p:txBody>
      </p:sp>
      <p:sp>
        <p:nvSpPr>
          <p:cNvPr id="16" name="Shape 14"/>
          <p:cNvSpPr/>
          <p:nvPr/>
        </p:nvSpPr>
        <p:spPr>
          <a:xfrm>
            <a:off x="548640" y="4937760"/>
            <a:ext cx="457200" cy="457200"/>
          </a:xfrm>
          <a:prstGeom prst="ellipse">
            <a:avLst/>
          </a:prstGeom>
          <a:solidFill>
            <a:srgbClr val="F7C92D"/>
          </a:solidFill>
          <a:ln w="12700">
            <a:solidFill>
              <a:srgbClr val="F7C92D"/>
            </a:solidFill>
            <a:prstDash val="solid"/>
          </a:ln>
        </p:spPr>
      </p:sp>
      <p:sp>
        <p:nvSpPr>
          <p:cNvPr id="17" name="Text 15"/>
          <p:cNvSpPr txBox="1"/>
          <p:nvPr/>
        </p:nvSpPr>
        <p:spPr>
          <a:xfrm>
            <a:off x="548640" y="4937760"/>
            <a:ext cx="457200" cy="457200"/>
          </a:xfrm>
          <a:prstGeom prst="rect">
            <a:avLst/>
          </a:prstGeom>
          <a:noFill/>
          <a:ln/>
        </p:spPr>
        <p:txBody>
          <a:bodyPr wrap="square" lIns="0" tIns="0" rIns="0" bIns="0" rtlCol="0" anchor="ctr"/>
          <a:lstStyle/>
          <a:p>
            <a:pPr algn="ctr" indent="0" marL="0">
              <a:buNone/>
            </a:pPr>
            <a:r>
              <a:rPr lang="en-US" sz="1600" b="1" dirty="0">
                <a:solidFill>
                  <a:srgbClr val="171C22"/>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1234440" y="4919472"/>
            <a:ext cx="5120640" cy="32004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Every application counted</a:t>
            </a:r>
            <a:endParaRPr lang="en-US" sz="1700" dirty="0"/>
          </a:p>
        </p:txBody>
      </p:sp>
      <p:sp>
        <p:nvSpPr>
          <p:cNvPr id="19" name="Text 17"/>
          <p:cNvSpPr txBox="1"/>
          <p:nvPr/>
        </p:nvSpPr>
        <p:spPr>
          <a:xfrm>
            <a:off x="1234440" y="5266944"/>
            <a:ext cx="5120640" cy="54864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GA4 conversion tracking shows which jobs and channels work.</a:t>
            </a:r>
            <a:endParaRPr lang="en-US" sz="1400" dirty="0"/>
          </a:p>
        </p:txBody>
      </p:sp>
      <p:sp>
        <p:nvSpPr>
          <p:cNvPr id="20" name="Shape 18"/>
          <p:cNvSpPr/>
          <p:nvPr/>
        </p:nvSpPr>
        <p:spPr>
          <a:xfrm>
            <a:off x="6492240" y="2103120"/>
            <a:ext cx="2377440" cy="2377440"/>
          </a:xfrm>
          <a:prstGeom prst="roundRect">
            <a:avLst>
              <a:gd name="adj" fmla="val 4615"/>
            </a:avLst>
          </a:prstGeom>
          <a:solidFill>
            <a:srgbClr val="FFF9E0"/>
          </a:solidFill>
          <a:ln w="12700">
            <a:solidFill>
              <a:srgbClr val="FFF9E0"/>
            </a:solidFill>
            <a:prstDash val="solid"/>
          </a:ln>
        </p:spPr>
      </p:sp>
      <p:sp>
        <p:nvSpPr>
          <p:cNvPr id="21" name="Text 19"/>
          <p:cNvSpPr txBox="1"/>
          <p:nvPr/>
        </p:nvSpPr>
        <p:spPr>
          <a:xfrm>
            <a:off x="6492240" y="2514600"/>
            <a:ext cx="2377440" cy="822960"/>
          </a:xfrm>
          <a:prstGeom prst="rect">
            <a:avLst/>
          </a:prstGeom>
          <a:noFill/>
          <a:ln/>
        </p:spPr>
        <p:txBody>
          <a:bodyPr wrap="square" lIns="0" tIns="0" rIns="0" bIns="0" rtlCol="0" anchor="ctr"/>
          <a:lstStyle/>
          <a:p>
            <a:pPr algn="ctr" indent="0" marL="0">
              <a:buNone/>
            </a:pPr>
            <a:r>
              <a:rPr lang="en-US" sz="4000" b="1" dirty="0">
                <a:solidFill>
                  <a:srgbClr val="1F2933"/>
                </a:solidFill>
                <a:latin typeface="Arial" pitchFamily="34" charset="0"/>
                <a:ea typeface="Arial" pitchFamily="34" charset="-122"/>
                <a:cs typeface="Arial" pitchFamily="34" charset="-120"/>
              </a:rPr>
              <a:t>&lt; 3 min</a:t>
            </a:r>
            <a:endParaRPr lang="en-US" sz="4000" dirty="0"/>
          </a:p>
        </p:txBody>
      </p:sp>
      <p:sp>
        <p:nvSpPr>
          <p:cNvPr id="22" name="Text 20"/>
          <p:cNvSpPr txBox="1"/>
          <p:nvPr/>
        </p:nvSpPr>
        <p:spPr>
          <a:xfrm>
            <a:off x="6720840" y="3383280"/>
            <a:ext cx="1920240" cy="822960"/>
          </a:xfrm>
          <a:prstGeom prst="rect">
            <a:avLst/>
          </a:prstGeom>
          <a:noFill/>
          <a:ln/>
        </p:spPr>
        <p:txBody>
          <a:bodyPr wrap="square" lIns="0" tIns="0" rIns="0" bIns="0" rtlCol="0" anchor="ctr"/>
          <a:lstStyle/>
          <a:p>
            <a:pPr algn="ctr" indent="0" marL="0">
              <a:buNone/>
            </a:pPr>
            <a:r>
              <a:rPr lang="en-US" sz="1400" dirty="0">
                <a:solidFill>
                  <a:srgbClr val="3D4752"/>
                </a:solidFill>
                <a:latin typeface="Calibri" pitchFamily="34" charset="0"/>
                <a:ea typeface="Calibri" pitchFamily="34" charset="-122"/>
                <a:cs typeface="Calibri" pitchFamily="34" charset="-120"/>
              </a:rPr>
              <a:t>to apply on a phone, including a resume</a:t>
            </a:r>
            <a:endParaRPr lang="en-US" sz="1400" dirty="0"/>
          </a:p>
        </p:txBody>
      </p:sp>
      <p:sp>
        <p:nvSpPr>
          <p:cNvPr id="23" name="Shape 21"/>
          <p:cNvSpPr/>
          <p:nvPr/>
        </p:nvSpPr>
        <p:spPr>
          <a:xfrm>
            <a:off x="9464040" y="1737360"/>
            <a:ext cx="2103120" cy="4444922"/>
          </a:xfrm>
          <a:prstGeom prst="rect">
            <a:avLst/>
          </a:prstGeom>
          <a:solidFill>
            <a:srgbClr val="FFFFFF"/>
          </a:solidFill>
          <a:ln w="9525">
            <a:solidFill>
              <a:srgbClr val="D5D9DE"/>
            </a:solidFill>
            <a:prstDash val="solid"/>
          </a:ln>
          <a:effectLst>
            <a:outerShdw sx="100000" sy="100000" kx="0" ky="0" algn="bl" rotWithShape="0" blurRad="152400" dist="50800" dir="5400000">
              <a:srgbClr val="000000">
                <a:alpha val="18000"/>
              </a:srgbClr>
            </a:outerShdw>
          </a:effectLst>
        </p:spPr>
      </p:sp>
      <p:pic>
        <p:nvPicPr>
          <p:cNvPr id="24" name="Image 0" descr="/tmp/claude-0/-home-user-pamar/b73e6f80-a414-5ae8-90eb-ab78d9502716/scratchpad/deck/img/apply-mobile.png">    </p:cNvPr>
          <p:cNvPicPr>
            <a:picLocks noChangeAspect="1"/>
          </p:cNvPicPr>
          <p:nvPr/>
        </p:nvPicPr>
        <p:blipFill>
          <a:blip r:embed="rId1"/>
          <a:stretch>
            <a:fillRect/>
          </a:stretch>
        </p:blipFill>
        <p:spPr>
          <a:xfrm>
            <a:off x="9509760" y="1783080"/>
            <a:ext cx="2011680" cy="4353482"/>
          </a:xfrm>
          <a:prstGeom prst="rect">
            <a:avLst/>
          </a:prstGeom>
        </p:spPr>
      </p:pic>
      <p:sp>
        <p:nvSpPr>
          <p:cNvPr id="25" name="Text 22"/>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26" name="Text 23"/>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SUBCONTRACTOR PORTAL</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Post packages. Collect bids. Hit your goals.</a:t>
            </a:r>
            <a:endParaRPr lang="en-US" sz="3400" dirty="0"/>
          </a:p>
        </p:txBody>
      </p:sp>
      <p:sp>
        <p:nvSpPr>
          <p:cNvPr id="4" name="Shape 2"/>
          <p:cNvSpPr/>
          <p:nvPr/>
        </p:nvSpPr>
        <p:spPr>
          <a:xfrm>
            <a:off x="502920" y="1691640"/>
            <a:ext cx="5943600" cy="3749040"/>
          </a:xfrm>
          <a:prstGeom prst="rect">
            <a:avLst/>
          </a:prstGeom>
          <a:solidFill>
            <a:srgbClr val="FFFFFF"/>
          </a:solidFill>
          <a:ln w="9525">
            <a:solidFill>
              <a:srgbClr val="D5D9DE"/>
            </a:solidFill>
            <a:prstDash val="solid"/>
          </a:ln>
          <a:effectLst>
            <a:outerShdw sx="100000" sy="100000" kx="0" ky="0" algn="bl" rotWithShape="0" blurRad="152400" dist="50800" dir="5400000">
              <a:srgbClr val="000000">
                <a:alpha val="18000"/>
              </a:srgbClr>
            </a:outerShdw>
          </a:effectLst>
        </p:spPr>
      </p:sp>
      <p:pic>
        <p:nvPicPr>
          <p:cNvPr id="5" name="Image 0" descr="/tmp/claude-0/-home-user-pamar/b73e6f80-a414-5ae8-90eb-ab78d9502716/scratchpad/deck/img/opportunity.png">    </p:cNvPr>
          <p:cNvPicPr>
            <a:picLocks noChangeAspect="1"/>
          </p:cNvPicPr>
          <p:nvPr/>
        </p:nvPicPr>
        <p:blipFill>
          <a:blip r:embed="rId1"/>
          <a:stretch>
            <a:fillRect/>
          </a:stretch>
        </p:blipFill>
        <p:spPr>
          <a:xfrm>
            <a:off x="548640" y="1737360"/>
            <a:ext cx="5852160" cy="3657600"/>
          </a:xfrm>
          <a:prstGeom prst="rect">
            <a:avLst/>
          </a:prstGeom>
        </p:spPr>
      </p:pic>
      <p:sp>
        <p:nvSpPr>
          <p:cNvPr id="6" name="Shape 3"/>
          <p:cNvSpPr/>
          <p:nvPr/>
        </p:nvSpPr>
        <p:spPr>
          <a:xfrm>
            <a:off x="6903720" y="1737360"/>
            <a:ext cx="502920" cy="502920"/>
          </a:xfrm>
          <a:prstGeom prst="ellipse">
            <a:avLst/>
          </a:prstGeom>
          <a:solidFill>
            <a:srgbClr val="F7C92D"/>
          </a:solidFill>
          <a:ln w="12700">
            <a:solidFill>
              <a:srgbClr val="F7C92D"/>
            </a:solidFill>
            <a:prstDash val="solid"/>
          </a:ln>
        </p:spPr>
      </p:sp>
      <p:pic>
        <p:nvPicPr>
          <p:cNvPr id="7" name="Image 1" descr="preencoded.png">    </p:cNvPr>
          <p:cNvPicPr>
            <a:picLocks noChangeAspect="1"/>
          </p:cNvPicPr>
          <p:nvPr/>
        </p:nvPicPr>
        <p:blipFill>
          <a:blip r:embed="rId2"/>
          <a:stretch>
            <a:fillRect/>
          </a:stretch>
        </p:blipFill>
        <p:spPr>
          <a:xfrm>
            <a:off x="7034479" y="1868119"/>
            <a:ext cx="241402" cy="241402"/>
          </a:xfrm>
          <a:prstGeom prst="rect">
            <a:avLst/>
          </a:prstGeom>
        </p:spPr>
      </p:pic>
      <p:sp>
        <p:nvSpPr>
          <p:cNvPr id="8" name="Text 4"/>
          <p:cNvSpPr txBox="1"/>
          <p:nvPr/>
        </p:nvSpPr>
        <p:spPr>
          <a:xfrm>
            <a:off x="7589520" y="1709928"/>
            <a:ext cx="402336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Live bid board</a:t>
            </a:r>
            <a:endParaRPr lang="en-US" sz="1500" dirty="0"/>
          </a:p>
        </p:txBody>
      </p:sp>
      <p:sp>
        <p:nvSpPr>
          <p:cNvPr id="9" name="Text 5"/>
          <p:cNvSpPr txBox="1"/>
          <p:nvPr/>
        </p:nvSpPr>
        <p:spPr>
          <a:xfrm>
            <a:off x="7589520" y="2011680"/>
            <a:ext cx="4023360" cy="502920"/>
          </a:xfrm>
          <a:prstGeom prst="rect">
            <a:avLst/>
          </a:prstGeom>
          <a:noFill/>
          <a:ln/>
        </p:spPr>
        <p:txBody>
          <a:bodyPr wrap="square" lIns="0" tIns="0" rIns="0" bIns="0" rtlCol="0" anchor="t"/>
          <a:lstStyle/>
          <a:p>
            <a:pPr indent="0" marL="0">
              <a:buNone/>
            </a:pPr>
            <a:r>
              <a:rPr lang="en-US" sz="1300" dirty="0">
                <a:solidFill>
                  <a:srgbClr val="3D4752"/>
                </a:solidFill>
                <a:latin typeface="Calibri" pitchFamily="34" charset="0"/>
                <a:ea typeface="Calibri" pitchFamily="34" charset="-122"/>
                <a:cs typeface="Calibri" pitchFamily="34" charset="-120"/>
              </a:rPr>
              <a:t>Open packages listed first, soonest due date on top.</a:t>
            </a:r>
            <a:endParaRPr lang="en-US" sz="1300" dirty="0"/>
          </a:p>
        </p:txBody>
      </p:sp>
      <p:sp>
        <p:nvSpPr>
          <p:cNvPr id="10" name="Shape 6"/>
          <p:cNvSpPr/>
          <p:nvPr/>
        </p:nvSpPr>
        <p:spPr>
          <a:xfrm>
            <a:off x="6903720" y="2606040"/>
            <a:ext cx="502920" cy="502920"/>
          </a:xfrm>
          <a:prstGeom prst="ellipse">
            <a:avLst/>
          </a:prstGeom>
          <a:solidFill>
            <a:srgbClr val="F7C92D"/>
          </a:solidFill>
          <a:ln w="12700">
            <a:solidFill>
              <a:srgbClr val="F7C92D"/>
            </a:solidFill>
            <a:prstDash val="solid"/>
          </a:ln>
        </p:spPr>
      </p:sp>
      <p:pic>
        <p:nvPicPr>
          <p:cNvPr id="11" name="Image 2" descr="preencoded.png">    </p:cNvPr>
          <p:cNvPicPr>
            <a:picLocks noChangeAspect="1"/>
          </p:cNvPicPr>
          <p:nvPr/>
        </p:nvPicPr>
        <p:blipFill>
          <a:blip r:embed="rId3"/>
          <a:stretch>
            <a:fillRect/>
          </a:stretch>
        </p:blipFill>
        <p:spPr>
          <a:xfrm>
            <a:off x="7034479" y="2736799"/>
            <a:ext cx="241402" cy="241402"/>
          </a:xfrm>
          <a:prstGeom prst="rect">
            <a:avLst/>
          </a:prstGeom>
        </p:spPr>
      </p:pic>
      <p:sp>
        <p:nvSpPr>
          <p:cNvPr id="12" name="Text 7"/>
          <p:cNvSpPr txBox="1"/>
          <p:nvPr/>
        </p:nvSpPr>
        <p:spPr>
          <a:xfrm>
            <a:off x="7589520" y="2578608"/>
            <a:ext cx="402336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Deadlines enforced</a:t>
            </a:r>
            <a:endParaRPr lang="en-US" sz="1500" dirty="0"/>
          </a:p>
        </p:txBody>
      </p:sp>
      <p:sp>
        <p:nvSpPr>
          <p:cNvPr id="13" name="Text 8"/>
          <p:cNvSpPr txBox="1"/>
          <p:nvPr/>
        </p:nvSpPr>
        <p:spPr>
          <a:xfrm>
            <a:off x="7589520" y="2880360"/>
            <a:ext cx="4023360" cy="502920"/>
          </a:xfrm>
          <a:prstGeom prst="rect">
            <a:avLst/>
          </a:prstGeom>
          <a:noFill/>
          <a:ln/>
        </p:spPr>
        <p:txBody>
          <a:bodyPr wrap="square" lIns="0" tIns="0" rIns="0" bIns="0" rtlCol="0" anchor="t"/>
          <a:lstStyle/>
          <a:p>
            <a:pPr indent="0" marL="0">
              <a:buNone/>
            </a:pPr>
            <a:r>
              <a:rPr lang="en-US" sz="1300" dirty="0">
                <a:solidFill>
                  <a:srgbClr val="3D4752"/>
                </a:solidFill>
                <a:latin typeface="Calibri" pitchFamily="34" charset="0"/>
                <a:ea typeface="Calibri" pitchFamily="34" charset="-122"/>
                <a:cs typeface="Calibri" pitchFamily="34" charset="-120"/>
              </a:rPr>
              <a:t>Packages close automatically at the due time; late bids are rejected.</a:t>
            </a:r>
            <a:endParaRPr lang="en-US" sz="1300" dirty="0"/>
          </a:p>
        </p:txBody>
      </p:sp>
      <p:sp>
        <p:nvSpPr>
          <p:cNvPr id="14" name="Shape 9"/>
          <p:cNvSpPr/>
          <p:nvPr/>
        </p:nvSpPr>
        <p:spPr>
          <a:xfrm>
            <a:off x="6903720" y="3474720"/>
            <a:ext cx="502920" cy="502920"/>
          </a:xfrm>
          <a:prstGeom prst="ellipse">
            <a:avLst/>
          </a:prstGeom>
          <a:solidFill>
            <a:srgbClr val="F7C92D"/>
          </a:solidFill>
          <a:ln w="12700">
            <a:solidFill>
              <a:srgbClr val="F7C92D"/>
            </a:solidFill>
            <a:prstDash val="solid"/>
          </a:ln>
        </p:spPr>
      </p:sp>
      <p:pic>
        <p:nvPicPr>
          <p:cNvPr id="15" name="Image 3" descr="preencoded.png">    </p:cNvPr>
          <p:cNvPicPr>
            <a:picLocks noChangeAspect="1"/>
          </p:cNvPicPr>
          <p:nvPr/>
        </p:nvPicPr>
        <p:blipFill>
          <a:blip r:embed="rId4"/>
          <a:stretch>
            <a:fillRect/>
          </a:stretch>
        </p:blipFill>
        <p:spPr>
          <a:xfrm>
            <a:off x="7034479" y="3605479"/>
            <a:ext cx="241402" cy="241402"/>
          </a:xfrm>
          <a:prstGeom prst="rect">
            <a:avLst/>
          </a:prstGeom>
        </p:spPr>
      </p:pic>
      <p:sp>
        <p:nvSpPr>
          <p:cNvPr id="16" name="Text 10"/>
          <p:cNvSpPr txBox="1"/>
          <p:nvPr/>
        </p:nvSpPr>
        <p:spPr>
          <a:xfrm>
            <a:off x="7589520" y="3447288"/>
            <a:ext cx="402336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Intent to bid or full bid</a:t>
            </a:r>
            <a:endParaRPr lang="en-US" sz="1500" dirty="0"/>
          </a:p>
        </p:txBody>
      </p:sp>
      <p:sp>
        <p:nvSpPr>
          <p:cNvPr id="17" name="Text 11"/>
          <p:cNvSpPr txBox="1"/>
          <p:nvPr/>
        </p:nvSpPr>
        <p:spPr>
          <a:xfrm>
            <a:off x="7589520" y="3749040"/>
            <a:ext cx="4023360" cy="502920"/>
          </a:xfrm>
          <a:prstGeom prst="rect">
            <a:avLst/>
          </a:prstGeom>
          <a:noFill/>
          <a:ln/>
        </p:spPr>
        <p:txBody>
          <a:bodyPr wrap="square" lIns="0" tIns="0" rIns="0" bIns="0" rtlCol="0" anchor="t"/>
          <a:lstStyle/>
          <a:p>
            <a:pPr indent="0" marL="0">
              <a:buNone/>
            </a:pPr>
            <a:r>
              <a:rPr lang="en-US" sz="1300" dirty="0">
                <a:solidFill>
                  <a:srgbClr val="3D4752"/>
                </a:solidFill>
                <a:latin typeface="Calibri" pitchFamily="34" charset="0"/>
                <a:ea typeface="Calibri" pitchFamily="34" charset="-122"/>
                <a:cs typeface="Calibri" pitchFamily="34" charset="-120"/>
              </a:rPr>
              <a:t>Subs send a price and bid PDF straight to estimating.</a:t>
            </a:r>
            <a:endParaRPr lang="en-US" sz="1300" dirty="0"/>
          </a:p>
        </p:txBody>
      </p:sp>
      <p:sp>
        <p:nvSpPr>
          <p:cNvPr id="18" name="Shape 12"/>
          <p:cNvSpPr/>
          <p:nvPr/>
        </p:nvSpPr>
        <p:spPr>
          <a:xfrm>
            <a:off x="6903720" y="4343400"/>
            <a:ext cx="502920" cy="502920"/>
          </a:xfrm>
          <a:prstGeom prst="ellipse">
            <a:avLst/>
          </a:prstGeom>
          <a:solidFill>
            <a:srgbClr val="F7C92D"/>
          </a:solidFill>
          <a:ln w="12700">
            <a:solidFill>
              <a:srgbClr val="F7C92D"/>
            </a:solidFill>
            <a:prstDash val="solid"/>
          </a:ln>
        </p:spPr>
      </p:sp>
      <p:pic>
        <p:nvPicPr>
          <p:cNvPr id="19" name="Image 4" descr="preencoded.png">    </p:cNvPr>
          <p:cNvPicPr>
            <a:picLocks noChangeAspect="1"/>
          </p:cNvPicPr>
          <p:nvPr/>
        </p:nvPicPr>
        <p:blipFill>
          <a:blip r:embed="rId5"/>
          <a:stretch>
            <a:fillRect/>
          </a:stretch>
        </p:blipFill>
        <p:spPr>
          <a:xfrm>
            <a:off x="7034479" y="4474159"/>
            <a:ext cx="241402" cy="241402"/>
          </a:xfrm>
          <a:prstGeom prst="rect">
            <a:avLst/>
          </a:prstGeom>
        </p:spPr>
      </p:pic>
      <p:sp>
        <p:nvSpPr>
          <p:cNvPr id="20" name="Text 13"/>
          <p:cNvSpPr txBox="1"/>
          <p:nvPr/>
        </p:nvSpPr>
        <p:spPr>
          <a:xfrm>
            <a:off x="7589520" y="4315968"/>
            <a:ext cx="402336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Prequalification</a:t>
            </a:r>
            <a:endParaRPr lang="en-US" sz="1500" dirty="0"/>
          </a:p>
        </p:txBody>
      </p:sp>
      <p:sp>
        <p:nvSpPr>
          <p:cNvPr id="21" name="Text 14"/>
          <p:cNvSpPr txBox="1"/>
          <p:nvPr/>
        </p:nvSpPr>
        <p:spPr>
          <a:xfrm>
            <a:off x="7589520" y="4617720"/>
            <a:ext cx="4023360" cy="502920"/>
          </a:xfrm>
          <a:prstGeom prst="rect">
            <a:avLst/>
          </a:prstGeom>
          <a:noFill/>
          <a:ln/>
        </p:spPr>
        <p:txBody>
          <a:bodyPr wrap="square" lIns="0" tIns="0" rIns="0" bIns="0" rtlCol="0" anchor="t"/>
          <a:lstStyle/>
          <a:p>
            <a:pPr indent="0" marL="0">
              <a:buNone/>
            </a:pPr>
            <a:r>
              <a:rPr lang="en-US" sz="1300" dirty="0">
                <a:solidFill>
                  <a:srgbClr val="3D4752"/>
                </a:solidFill>
                <a:latin typeface="Calibri" pitchFamily="34" charset="0"/>
                <a:ea typeface="Calibri" pitchFamily="34" charset="-122"/>
                <a:cs typeface="Calibri" pitchFamily="34" charset="-120"/>
              </a:rPr>
              <a:t>Trades, service area, bonding, insurance, COI and W-9 on file.</a:t>
            </a:r>
            <a:endParaRPr lang="en-US" sz="1300" dirty="0"/>
          </a:p>
        </p:txBody>
      </p:sp>
      <p:sp>
        <p:nvSpPr>
          <p:cNvPr id="22" name="Shape 15"/>
          <p:cNvSpPr/>
          <p:nvPr/>
        </p:nvSpPr>
        <p:spPr>
          <a:xfrm>
            <a:off x="6903720" y="5212080"/>
            <a:ext cx="502920" cy="502920"/>
          </a:xfrm>
          <a:prstGeom prst="ellipse">
            <a:avLst/>
          </a:prstGeom>
          <a:solidFill>
            <a:srgbClr val="F7C92D"/>
          </a:solidFill>
          <a:ln w="12700">
            <a:solidFill>
              <a:srgbClr val="F7C92D"/>
            </a:solidFill>
            <a:prstDash val="solid"/>
          </a:ln>
        </p:spPr>
      </p:sp>
      <p:pic>
        <p:nvPicPr>
          <p:cNvPr id="23" name="Image 5" descr="preencoded.png">    </p:cNvPr>
          <p:cNvPicPr>
            <a:picLocks noChangeAspect="1"/>
          </p:cNvPicPr>
          <p:nvPr/>
        </p:nvPicPr>
        <p:blipFill>
          <a:blip r:embed="rId6"/>
          <a:stretch>
            <a:fillRect/>
          </a:stretch>
        </p:blipFill>
        <p:spPr>
          <a:xfrm>
            <a:off x="7034479" y="5342839"/>
            <a:ext cx="241402" cy="241402"/>
          </a:xfrm>
          <a:prstGeom prst="rect">
            <a:avLst/>
          </a:prstGeom>
        </p:spPr>
      </p:pic>
      <p:sp>
        <p:nvSpPr>
          <p:cNvPr id="24" name="Text 16"/>
          <p:cNvSpPr txBox="1"/>
          <p:nvPr/>
        </p:nvSpPr>
        <p:spPr>
          <a:xfrm>
            <a:off x="7589520" y="5184648"/>
            <a:ext cx="4023360" cy="292608"/>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DBE / MBE / WBE outreach</a:t>
            </a:r>
            <a:endParaRPr lang="en-US" sz="1500" dirty="0"/>
          </a:p>
        </p:txBody>
      </p:sp>
      <p:sp>
        <p:nvSpPr>
          <p:cNvPr id="25" name="Text 17"/>
          <p:cNvSpPr txBox="1"/>
          <p:nvPr/>
        </p:nvSpPr>
        <p:spPr>
          <a:xfrm>
            <a:off x="7589520" y="5486400"/>
            <a:ext cx="4023360" cy="502920"/>
          </a:xfrm>
          <a:prstGeom prst="rect">
            <a:avLst/>
          </a:prstGeom>
          <a:noFill/>
          <a:ln/>
        </p:spPr>
        <p:txBody>
          <a:bodyPr wrap="square" lIns="0" tIns="0" rIns="0" bIns="0" rtlCol="0" anchor="t"/>
          <a:lstStyle/>
          <a:p>
            <a:pPr indent="0" marL="0">
              <a:buNone/>
            </a:pPr>
            <a:r>
              <a:rPr lang="en-US" sz="1300" dirty="0">
                <a:solidFill>
                  <a:srgbClr val="3D4752"/>
                </a:solidFill>
                <a:latin typeface="Calibri" pitchFamily="34" charset="0"/>
                <a:ea typeface="Calibri" pitchFamily="34" charset="-122"/>
                <a:cs typeface="Calibri" pitchFamily="34" charset="-120"/>
              </a:rPr>
              <a:t>Certifications captured to support participation goals.</a:t>
            </a:r>
            <a:endParaRPr lang="en-US" sz="1300" dirty="0"/>
          </a:p>
        </p:txBody>
      </p:sp>
      <p:sp>
        <p:nvSpPr>
          <p:cNvPr id="26" name="Text 18"/>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27" name="Text 19"/>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UNDER THE HOOD</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Built to be found, fast, and easy to run</a:t>
            </a:r>
            <a:endParaRPr lang="en-US" sz="3400" dirty="0"/>
          </a:p>
        </p:txBody>
      </p:sp>
      <p:sp>
        <p:nvSpPr>
          <p:cNvPr id="4" name="Shape 2"/>
          <p:cNvSpPr/>
          <p:nvPr/>
        </p:nvSpPr>
        <p:spPr>
          <a:xfrm>
            <a:off x="548640" y="1737360"/>
            <a:ext cx="3484778" cy="1965960"/>
          </a:xfrm>
          <a:prstGeom prst="roundRect">
            <a:avLst>
              <a:gd name="adj" fmla="val 4651"/>
            </a:avLst>
          </a:prstGeom>
          <a:solidFill>
            <a:srgbClr val="F3F4F6"/>
          </a:solidFill>
          <a:ln w="12700">
            <a:solidFill>
              <a:srgbClr val="F3F4F6"/>
            </a:solidFill>
            <a:prstDash val="solid"/>
          </a:ln>
        </p:spPr>
      </p:sp>
      <p:sp>
        <p:nvSpPr>
          <p:cNvPr id="5" name="Shape 3"/>
          <p:cNvSpPr/>
          <p:nvPr/>
        </p:nvSpPr>
        <p:spPr>
          <a:xfrm>
            <a:off x="868680" y="2057400"/>
            <a:ext cx="548640" cy="548640"/>
          </a:xfrm>
          <a:prstGeom prst="ellipse">
            <a:avLst/>
          </a:prstGeom>
          <a:solidFill>
            <a:srgbClr val="F7C92D"/>
          </a:solidFill>
          <a:ln w="12700">
            <a:solidFill>
              <a:srgbClr val="F7C92D"/>
            </a:solidFill>
            <a:prstDash val="solid"/>
          </a:ln>
        </p:spPr>
      </p:sp>
      <p:pic>
        <p:nvPicPr>
          <p:cNvPr id="6" name="Image 0" descr="preencoded.png">    </p:cNvPr>
          <p:cNvPicPr>
            <a:picLocks noChangeAspect="1"/>
          </p:cNvPicPr>
          <p:nvPr/>
        </p:nvPicPr>
        <p:blipFill>
          <a:blip r:embed="rId1"/>
          <a:stretch>
            <a:fillRect/>
          </a:stretch>
        </p:blipFill>
        <p:spPr>
          <a:xfrm>
            <a:off x="1011326" y="2200046"/>
            <a:ext cx="263347" cy="263347"/>
          </a:xfrm>
          <a:prstGeom prst="rect">
            <a:avLst/>
          </a:prstGeom>
        </p:spPr>
      </p:pic>
      <p:sp>
        <p:nvSpPr>
          <p:cNvPr id="7" name="Text 4"/>
          <p:cNvSpPr txBox="1"/>
          <p:nvPr/>
        </p:nvSpPr>
        <p:spPr>
          <a:xfrm>
            <a:off x="1600200" y="2084832"/>
            <a:ext cx="2204618" cy="45720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Easy for staff</a:t>
            </a:r>
            <a:endParaRPr lang="en-US" sz="1700" dirty="0"/>
          </a:p>
        </p:txBody>
      </p:sp>
      <p:sp>
        <p:nvSpPr>
          <p:cNvPr id="8" name="Text 5"/>
          <p:cNvSpPr txBox="1"/>
          <p:nvPr/>
        </p:nvSpPr>
        <p:spPr>
          <a:xfrm>
            <a:off x="868680" y="2743200"/>
            <a:ext cx="2844698" cy="82296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HR, estimating, and marketing update jobs, packages, and projects themselves.</a:t>
            </a:r>
            <a:endParaRPr lang="en-US" sz="1400" dirty="0"/>
          </a:p>
        </p:txBody>
      </p:sp>
      <p:sp>
        <p:nvSpPr>
          <p:cNvPr id="9" name="Shape 6"/>
          <p:cNvSpPr/>
          <p:nvPr/>
        </p:nvSpPr>
        <p:spPr>
          <a:xfrm>
            <a:off x="4353458" y="1737360"/>
            <a:ext cx="3484778" cy="1965960"/>
          </a:xfrm>
          <a:prstGeom prst="roundRect">
            <a:avLst>
              <a:gd name="adj" fmla="val 4651"/>
            </a:avLst>
          </a:prstGeom>
          <a:solidFill>
            <a:srgbClr val="F3F4F6"/>
          </a:solidFill>
          <a:ln w="12700">
            <a:solidFill>
              <a:srgbClr val="F3F4F6"/>
            </a:solidFill>
            <a:prstDash val="solid"/>
          </a:ln>
        </p:spPr>
      </p:sp>
      <p:sp>
        <p:nvSpPr>
          <p:cNvPr id="10" name="Shape 7"/>
          <p:cNvSpPr/>
          <p:nvPr/>
        </p:nvSpPr>
        <p:spPr>
          <a:xfrm>
            <a:off x="4673498" y="2057400"/>
            <a:ext cx="548640" cy="548640"/>
          </a:xfrm>
          <a:prstGeom prst="ellipse">
            <a:avLst/>
          </a:prstGeom>
          <a:solidFill>
            <a:srgbClr val="F7C92D"/>
          </a:solidFill>
          <a:ln w="12700">
            <a:solidFill>
              <a:srgbClr val="F7C92D"/>
            </a:solidFill>
            <a:prstDash val="solid"/>
          </a:ln>
        </p:spPr>
      </p:sp>
      <p:pic>
        <p:nvPicPr>
          <p:cNvPr id="11" name="Image 1" descr="preencoded.png">    </p:cNvPr>
          <p:cNvPicPr>
            <a:picLocks noChangeAspect="1"/>
          </p:cNvPicPr>
          <p:nvPr/>
        </p:nvPicPr>
        <p:blipFill>
          <a:blip r:embed="rId2"/>
          <a:stretch>
            <a:fillRect/>
          </a:stretch>
        </p:blipFill>
        <p:spPr>
          <a:xfrm>
            <a:off x="4816145" y="2200046"/>
            <a:ext cx="263347" cy="263347"/>
          </a:xfrm>
          <a:prstGeom prst="rect">
            <a:avLst/>
          </a:prstGeom>
        </p:spPr>
      </p:pic>
      <p:sp>
        <p:nvSpPr>
          <p:cNvPr id="12" name="Text 8"/>
          <p:cNvSpPr txBox="1"/>
          <p:nvPr/>
        </p:nvSpPr>
        <p:spPr>
          <a:xfrm>
            <a:off x="5405018" y="2084832"/>
            <a:ext cx="2204618" cy="45720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Mobile-first &amp; fast</a:t>
            </a:r>
            <a:endParaRPr lang="en-US" sz="1700" dirty="0"/>
          </a:p>
        </p:txBody>
      </p:sp>
      <p:sp>
        <p:nvSpPr>
          <p:cNvPr id="13" name="Text 9"/>
          <p:cNvSpPr txBox="1"/>
          <p:nvPr/>
        </p:nvSpPr>
        <p:spPr>
          <a:xfrm>
            <a:off x="4673498" y="2743200"/>
            <a:ext cx="2844698" cy="82296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Designed for the field. Targets Lighthouse 90+ on mobile.</a:t>
            </a:r>
            <a:endParaRPr lang="en-US" sz="1400" dirty="0"/>
          </a:p>
        </p:txBody>
      </p:sp>
      <p:sp>
        <p:nvSpPr>
          <p:cNvPr id="14" name="Shape 10"/>
          <p:cNvSpPr/>
          <p:nvPr/>
        </p:nvSpPr>
        <p:spPr>
          <a:xfrm>
            <a:off x="8158277" y="1737360"/>
            <a:ext cx="3484778" cy="1965960"/>
          </a:xfrm>
          <a:prstGeom prst="roundRect">
            <a:avLst>
              <a:gd name="adj" fmla="val 4651"/>
            </a:avLst>
          </a:prstGeom>
          <a:solidFill>
            <a:srgbClr val="F3F4F6"/>
          </a:solidFill>
          <a:ln w="12700">
            <a:solidFill>
              <a:srgbClr val="F3F4F6"/>
            </a:solidFill>
            <a:prstDash val="solid"/>
          </a:ln>
        </p:spPr>
      </p:sp>
      <p:sp>
        <p:nvSpPr>
          <p:cNvPr id="15" name="Shape 11"/>
          <p:cNvSpPr/>
          <p:nvPr/>
        </p:nvSpPr>
        <p:spPr>
          <a:xfrm>
            <a:off x="8478317" y="2057400"/>
            <a:ext cx="548640" cy="548640"/>
          </a:xfrm>
          <a:prstGeom prst="ellipse">
            <a:avLst/>
          </a:prstGeom>
          <a:solidFill>
            <a:srgbClr val="F7C92D"/>
          </a:solidFill>
          <a:ln w="12700">
            <a:solidFill>
              <a:srgbClr val="F7C92D"/>
            </a:solidFill>
            <a:prstDash val="solid"/>
          </a:ln>
        </p:spPr>
      </p:sp>
      <p:pic>
        <p:nvPicPr>
          <p:cNvPr id="16" name="Image 2" descr="preencoded.png">    </p:cNvPr>
          <p:cNvPicPr>
            <a:picLocks noChangeAspect="1"/>
          </p:cNvPicPr>
          <p:nvPr/>
        </p:nvPicPr>
        <p:blipFill>
          <a:blip r:embed="rId3"/>
          <a:stretch>
            <a:fillRect/>
          </a:stretch>
        </p:blipFill>
        <p:spPr>
          <a:xfrm>
            <a:off x="8620963" y="2200046"/>
            <a:ext cx="263347" cy="263347"/>
          </a:xfrm>
          <a:prstGeom prst="rect">
            <a:avLst/>
          </a:prstGeom>
        </p:spPr>
      </p:pic>
      <p:sp>
        <p:nvSpPr>
          <p:cNvPr id="17" name="Text 12"/>
          <p:cNvSpPr txBox="1"/>
          <p:nvPr/>
        </p:nvSpPr>
        <p:spPr>
          <a:xfrm>
            <a:off x="9209837" y="2084832"/>
            <a:ext cx="2204618" cy="45720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Found on Google</a:t>
            </a:r>
            <a:endParaRPr lang="en-US" sz="1700" dirty="0"/>
          </a:p>
        </p:txBody>
      </p:sp>
      <p:sp>
        <p:nvSpPr>
          <p:cNvPr id="18" name="Text 13"/>
          <p:cNvSpPr txBox="1"/>
          <p:nvPr/>
        </p:nvSpPr>
        <p:spPr>
          <a:xfrm>
            <a:off x="8478317" y="2743200"/>
            <a:ext cx="2844698" cy="82296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Sitemap, structured data, and job listings eligible for Google for Jobs.</a:t>
            </a:r>
            <a:endParaRPr lang="en-US" sz="1400" dirty="0"/>
          </a:p>
        </p:txBody>
      </p:sp>
      <p:sp>
        <p:nvSpPr>
          <p:cNvPr id="19" name="Shape 14"/>
          <p:cNvSpPr/>
          <p:nvPr/>
        </p:nvSpPr>
        <p:spPr>
          <a:xfrm>
            <a:off x="548640" y="3977640"/>
            <a:ext cx="3484778" cy="1965960"/>
          </a:xfrm>
          <a:prstGeom prst="roundRect">
            <a:avLst>
              <a:gd name="adj" fmla="val 4651"/>
            </a:avLst>
          </a:prstGeom>
          <a:solidFill>
            <a:srgbClr val="F3F4F6"/>
          </a:solidFill>
          <a:ln w="12700">
            <a:solidFill>
              <a:srgbClr val="F3F4F6"/>
            </a:solidFill>
            <a:prstDash val="solid"/>
          </a:ln>
        </p:spPr>
      </p:sp>
      <p:sp>
        <p:nvSpPr>
          <p:cNvPr id="20" name="Shape 15"/>
          <p:cNvSpPr/>
          <p:nvPr/>
        </p:nvSpPr>
        <p:spPr>
          <a:xfrm>
            <a:off x="868680" y="4297680"/>
            <a:ext cx="548640" cy="548640"/>
          </a:xfrm>
          <a:prstGeom prst="ellipse">
            <a:avLst/>
          </a:prstGeom>
          <a:solidFill>
            <a:srgbClr val="F7C92D"/>
          </a:solidFill>
          <a:ln w="12700">
            <a:solidFill>
              <a:srgbClr val="F7C92D"/>
            </a:solidFill>
            <a:prstDash val="solid"/>
          </a:ln>
        </p:spPr>
      </p:sp>
      <p:pic>
        <p:nvPicPr>
          <p:cNvPr id="21" name="Image 3" descr="preencoded.png">    </p:cNvPr>
          <p:cNvPicPr>
            <a:picLocks noChangeAspect="1"/>
          </p:cNvPicPr>
          <p:nvPr/>
        </p:nvPicPr>
        <p:blipFill>
          <a:blip r:embed="rId4"/>
          <a:stretch>
            <a:fillRect/>
          </a:stretch>
        </p:blipFill>
        <p:spPr>
          <a:xfrm>
            <a:off x="1011326" y="4440326"/>
            <a:ext cx="263347" cy="263347"/>
          </a:xfrm>
          <a:prstGeom prst="rect">
            <a:avLst/>
          </a:prstGeom>
        </p:spPr>
      </p:pic>
      <p:sp>
        <p:nvSpPr>
          <p:cNvPr id="22" name="Text 16"/>
          <p:cNvSpPr txBox="1"/>
          <p:nvPr/>
        </p:nvSpPr>
        <p:spPr>
          <a:xfrm>
            <a:off x="1600200" y="4325112"/>
            <a:ext cx="2204618" cy="45720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Measured</a:t>
            </a:r>
            <a:endParaRPr lang="en-US" sz="1700" dirty="0"/>
          </a:p>
        </p:txBody>
      </p:sp>
      <p:sp>
        <p:nvSpPr>
          <p:cNvPr id="23" name="Text 17"/>
          <p:cNvSpPr txBox="1"/>
          <p:nvPr/>
        </p:nvSpPr>
        <p:spPr>
          <a:xfrm>
            <a:off x="868680" y="4983480"/>
            <a:ext cx="2844698" cy="82296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GA4 conversions for applications, registrations, bids, and inquiries.</a:t>
            </a:r>
            <a:endParaRPr lang="en-US" sz="1400" dirty="0"/>
          </a:p>
        </p:txBody>
      </p:sp>
      <p:sp>
        <p:nvSpPr>
          <p:cNvPr id="24" name="Shape 18"/>
          <p:cNvSpPr/>
          <p:nvPr/>
        </p:nvSpPr>
        <p:spPr>
          <a:xfrm>
            <a:off x="4353458" y="3977640"/>
            <a:ext cx="3484778" cy="1965960"/>
          </a:xfrm>
          <a:prstGeom prst="roundRect">
            <a:avLst>
              <a:gd name="adj" fmla="val 4651"/>
            </a:avLst>
          </a:prstGeom>
          <a:solidFill>
            <a:srgbClr val="F3F4F6"/>
          </a:solidFill>
          <a:ln w="12700">
            <a:solidFill>
              <a:srgbClr val="F3F4F6"/>
            </a:solidFill>
            <a:prstDash val="solid"/>
          </a:ln>
        </p:spPr>
      </p:sp>
      <p:sp>
        <p:nvSpPr>
          <p:cNvPr id="25" name="Shape 19"/>
          <p:cNvSpPr/>
          <p:nvPr/>
        </p:nvSpPr>
        <p:spPr>
          <a:xfrm>
            <a:off x="4673498" y="4297680"/>
            <a:ext cx="548640" cy="548640"/>
          </a:xfrm>
          <a:prstGeom prst="ellipse">
            <a:avLst/>
          </a:prstGeom>
          <a:solidFill>
            <a:srgbClr val="F7C92D"/>
          </a:solidFill>
          <a:ln w="12700">
            <a:solidFill>
              <a:srgbClr val="F7C92D"/>
            </a:solidFill>
            <a:prstDash val="solid"/>
          </a:ln>
        </p:spPr>
      </p:sp>
      <p:pic>
        <p:nvPicPr>
          <p:cNvPr id="26" name="Image 4" descr="preencoded.png">    </p:cNvPr>
          <p:cNvPicPr>
            <a:picLocks noChangeAspect="1"/>
          </p:cNvPicPr>
          <p:nvPr/>
        </p:nvPicPr>
        <p:blipFill>
          <a:blip r:embed="rId5"/>
          <a:stretch>
            <a:fillRect/>
          </a:stretch>
        </p:blipFill>
        <p:spPr>
          <a:xfrm>
            <a:off x="4816145" y="4440326"/>
            <a:ext cx="263347" cy="263347"/>
          </a:xfrm>
          <a:prstGeom prst="rect">
            <a:avLst/>
          </a:prstGeom>
        </p:spPr>
      </p:pic>
      <p:sp>
        <p:nvSpPr>
          <p:cNvPr id="27" name="Text 20"/>
          <p:cNvSpPr txBox="1"/>
          <p:nvPr/>
        </p:nvSpPr>
        <p:spPr>
          <a:xfrm>
            <a:off x="5405018" y="4325112"/>
            <a:ext cx="2204618" cy="45720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Secure forms</a:t>
            </a:r>
            <a:endParaRPr lang="en-US" sz="1700" dirty="0"/>
          </a:p>
        </p:txBody>
      </p:sp>
      <p:sp>
        <p:nvSpPr>
          <p:cNvPr id="28" name="Text 21"/>
          <p:cNvSpPr txBox="1"/>
          <p:nvPr/>
        </p:nvSpPr>
        <p:spPr>
          <a:xfrm>
            <a:off x="4673498" y="4983480"/>
            <a:ext cx="2844698" cy="82296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Spam protection plus server-side file checks on every upload.</a:t>
            </a:r>
            <a:endParaRPr lang="en-US" sz="1400" dirty="0"/>
          </a:p>
        </p:txBody>
      </p:sp>
      <p:sp>
        <p:nvSpPr>
          <p:cNvPr id="29" name="Shape 22"/>
          <p:cNvSpPr/>
          <p:nvPr/>
        </p:nvSpPr>
        <p:spPr>
          <a:xfrm>
            <a:off x="8158277" y="3977640"/>
            <a:ext cx="3484778" cy="1965960"/>
          </a:xfrm>
          <a:prstGeom prst="roundRect">
            <a:avLst>
              <a:gd name="adj" fmla="val 4651"/>
            </a:avLst>
          </a:prstGeom>
          <a:solidFill>
            <a:srgbClr val="F3F4F6"/>
          </a:solidFill>
          <a:ln w="12700">
            <a:solidFill>
              <a:srgbClr val="F3F4F6"/>
            </a:solidFill>
            <a:prstDash val="solid"/>
          </a:ln>
        </p:spPr>
      </p:sp>
      <p:sp>
        <p:nvSpPr>
          <p:cNvPr id="30" name="Shape 23"/>
          <p:cNvSpPr/>
          <p:nvPr/>
        </p:nvSpPr>
        <p:spPr>
          <a:xfrm>
            <a:off x="8478317" y="4297680"/>
            <a:ext cx="548640" cy="548640"/>
          </a:xfrm>
          <a:prstGeom prst="ellipse">
            <a:avLst/>
          </a:prstGeom>
          <a:solidFill>
            <a:srgbClr val="F7C92D"/>
          </a:solidFill>
          <a:ln w="12700">
            <a:solidFill>
              <a:srgbClr val="F7C92D"/>
            </a:solidFill>
            <a:prstDash val="solid"/>
          </a:ln>
        </p:spPr>
      </p:sp>
      <p:pic>
        <p:nvPicPr>
          <p:cNvPr id="31" name="Image 5" descr="preencoded.png">    </p:cNvPr>
          <p:cNvPicPr>
            <a:picLocks noChangeAspect="1"/>
          </p:cNvPicPr>
          <p:nvPr/>
        </p:nvPicPr>
        <p:blipFill>
          <a:blip r:embed="rId6"/>
          <a:stretch>
            <a:fillRect/>
          </a:stretch>
        </p:blipFill>
        <p:spPr>
          <a:xfrm>
            <a:off x="8620963" y="4440326"/>
            <a:ext cx="263347" cy="263347"/>
          </a:xfrm>
          <a:prstGeom prst="rect">
            <a:avLst/>
          </a:prstGeom>
        </p:spPr>
      </p:pic>
      <p:sp>
        <p:nvSpPr>
          <p:cNvPr id="32" name="Text 24"/>
          <p:cNvSpPr txBox="1"/>
          <p:nvPr/>
        </p:nvSpPr>
        <p:spPr>
          <a:xfrm>
            <a:off x="9209837" y="4325112"/>
            <a:ext cx="2204618" cy="45720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Accessible</a:t>
            </a:r>
            <a:endParaRPr lang="en-US" sz="1700" dirty="0"/>
          </a:p>
        </p:txBody>
      </p:sp>
      <p:sp>
        <p:nvSpPr>
          <p:cNvPr id="33" name="Text 25"/>
          <p:cNvSpPr txBox="1"/>
          <p:nvPr/>
        </p:nvSpPr>
        <p:spPr>
          <a:xfrm>
            <a:off x="8478317" y="4983480"/>
            <a:ext cx="2844698" cy="822960"/>
          </a:xfrm>
          <a:prstGeom prst="rect">
            <a:avLst/>
          </a:prstGeom>
          <a:noFill/>
          <a:ln/>
        </p:spPr>
        <p:txBody>
          <a:bodyPr wrap="square" lIns="0" tIns="0" rIns="0" bIns="0" rtlCol="0" anchor="t"/>
          <a:lstStyle/>
          <a:p>
            <a:pPr indent="0" marL="0">
              <a:buNone/>
            </a:pPr>
            <a:r>
              <a:rPr lang="en-US" sz="1400" dirty="0">
                <a:solidFill>
                  <a:srgbClr val="3D4752"/>
                </a:solidFill>
                <a:latin typeface="Calibri" pitchFamily="34" charset="0"/>
                <a:ea typeface="Calibri" pitchFamily="34" charset="-122"/>
                <a:cs typeface="Calibri" pitchFamily="34" charset="-120"/>
              </a:rPr>
              <a:t>Built to WCAG 2.1 AA: keyboard, screen reader, and contrast friendly.</a:t>
            </a:r>
            <a:endParaRPr lang="en-US" sz="1400" dirty="0"/>
          </a:p>
        </p:txBody>
      </p:sp>
      <p:sp>
        <p:nvSpPr>
          <p:cNvPr id="34" name="Text 26"/>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35" name="Text 27"/>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SEO + AEO</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Be the answer when they search</a:t>
            </a:r>
            <a:endParaRPr lang="en-US" sz="3400" dirty="0"/>
          </a:p>
        </p:txBody>
      </p:sp>
      <p:sp>
        <p:nvSpPr>
          <p:cNvPr id="4" name="Text 2"/>
          <p:cNvSpPr txBox="1"/>
          <p:nvPr/>
        </p:nvSpPr>
        <p:spPr>
          <a:xfrm>
            <a:off x="548640" y="1783080"/>
            <a:ext cx="3484778" cy="274320"/>
          </a:xfrm>
          <a:prstGeom prst="rect">
            <a:avLst/>
          </a:prstGeom>
          <a:noFill/>
          <a:ln/>
        </p:spPr>
        <p:txBody>
          <a:bodyPr wrap="square" lIns="0" tIns="0" rIns="0" bIns="0" rtlCol="0" anchor="ctr"/>
          <a:lstStyle/>
          <a:p>
            <a:pPr indent="0" marL="0">
              <a:buNone/>
            </a:pPr>
            <a:r>
              <a:rPr lang="en-US" sz="1200" b="1" spc="200" kern="0" dirty="0">
                <a:solidFill>
                  <a:srgbClr val="3E5C76"/>
                </a:solidFill>
                <a:latin typeface="Arial" pitchFamily="34" charset="0"/>
                <a:ea typeface="Arial" pitchFamily="34" charset="-122"/>
                <a:cs typeface="Arial" pitchFamily="34" charset="-120"/>
              </a:rPr>
              <a:t>OWNERS &amp; ENGINEERS</a:t>
            </a:r>
            <a:endParaRPr lang="en-US" sz="1200" dirty="0"/>
          </a:p>
        </p:txBody>
      </p:sp>
      <p:sp>
        <p:nvSpPr>
          <p:cNvPr id="5" name="Shape 3"/>
          <p:cNvSpPr/>
          <p:nvPr/>
        </p:nvSpPr>
        <p:spPr>
          <a:xfrm>
            <a:off x="548640" y="2148840"/>
            <a:ext cx="3484778" cy="658368"/>
          </a:xfrm>
          <a:prstGeom prst="roundRect">
            <a:avLst>
              <a:gd name="adj" fmla="val 50000"/>
            </a:avLst>
          </a:prstGeom>
          <a:solidFill>
            <a:srgbClr val="FFFFFF"/>
          </a:solidFill>
          <a:ln w="12700">
            <a:solidFill>
              <a:srgbClr val="D5D9DE"/>
            </a:solidFill>
            <a:prstDash val="solid"/>
          </a:ln>
          <a:effectLst>
            <a:outerShdw sx="100000" sy="100000" kx="0" ky="0" algn="bl" rotWithShape="0" blurRad="101600" dist="25400" dir="5400000">
              <a:srgbClr val="000000">
                <a:alpha val="12000"/>
              </a:srgbClr>
            </a:outerShdw>
          </a:effectLst>
        </p:spPr>
      </p:sp>
      <p:pic>
        <p:nvPicPr>
          <p:cNvPr id="6" name="Image 0" descr="preencoded.png">    </p:cNvPr>
          <p:cNvPicPr>
            <a:picLocks noChangeAspect="1"/>
          </p:cNvPicPr>
          <p:nvPr/>
        </p:nvPicPr>
        <p:blipFill>
          <a:blip r:embed="rId1"/>
          <a:stretch>
            <a:fillRect/>
          </a:stretch>
        </p:blipFill>
        <p:spPr>
          <a:xfrm>
            <a:off x="804672" y="2340864"/>
            <a:ext cx="274320" cy="274320"/>
          </a:xfrm>
          <a:prstGeom prst="rect">
            <a:avLst/>
          </a:prstGeom>
        </p:spPr>
      </p:pic>
      <p:sp>
        <p:nvSpPr>
          <p:cNvPr id="7" name="Text 4"/>
          <p:cNvSpPr txBox="1"/>
          <p:nvPr/>
        </p:nvSpPr>
        <p:spPr>
          <a:xfrm>
            <a:off x="1207008" y="2148840"/>
            <a:ext cx="2616098" cy="658368"/>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underground utility contractor near me</a:t>
            </a:r>
            <a:endParaRPr lang="en-US" sz="1500" dirty="0"/>
          </a:p>
        </p:txBody>
      </p:sp>
      <p:sp>
        <p:nvSpPr>
          <p:cNvPr id="8" name="Text 5"/>
          <p:cNvSpPr txBox="1"/>
          <p:nvPr/>
        </p:nvSpPr>
        <p:spPr>
          <a:xfrm>
            <a:off x="548640" y="3063240"/>
            <a:ext cx="3484778" cy="32004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What they find</a:t>
            </a:r>
            <a:endParaRPr lang="en-US" sz="1500" dirty="0"/>
          </a:p>
        </p:txBody>
      </p:sp>
      <p:sp>
        <p:nvSpPr>
          <p:cNvPr id="9" name="Text 6"/>
          <p:cNvSpPr txBox="1"/>
          <p:nvPr/>
        </p:nvSpPr>
        <p:spPr>
          <a:xfrm>
            <a:off x="548640" y="3401568"/>
            <a:ext cx="3484778" cy="1005840"/>
          </a:xfrm>
          <a:prstGeom prst="rect">
            <a:avLst/>
          </a:prstGeom>
          <a:noFill/>
          <a:ln/>
        </p:spPr>
        <p:txBody>
          <a:bodyPr wrap="square" lIns="0" tIns="0" rIns="0" bIns="0" rtlCol="0" anchor="t"/>
          <a:lstStyle/>
          <a:p>
            <a:pPr indent="0" marL="0">
              <a:buNone/>
            </a:pPr>
            <a:r>
              <a:rPr lang="en-US" sz="1500" dirty="0">
                <a:solidFill>
                  <a:srgbClr val="3D4752"/>
                </a:solidFill>
                <a:latin typeface="Calibri" pitchFamily="34" charset="0"/>
                <a:ea typeface="Calibri" pitchFamily="34" charset="-122"/>
                <a:cs typeface="Calibri" pitchFamily="34" charset="-120"/>
              </a:rPr>
              <a:t>Your services, projects, and safety record in Google results, Maps, and AI answers.</a:t>
            </a:r>
            <a:endParaRPr lang="en-US" sz="1500" dirty="0"/>
          </a:p>
        </p:txBody>
      </p:sp>
      <p:sp>
        <p:nvSpPr>
          <p:cNvPr id="10" name="Text 7"/>
          <p:cNvSpPr txBox="1"/>
          <p:nvPr/>
        </p:nvSpPr>
        <p:spPr>
          <a:xfrm>
            <a:off x="4353458" y="1783080"/>
            <a:ext cx="3484778" cy="274320"/>
          </a:xfrm>
          <a:prstGeom prst="rect">
            <a:avLst/>
          </a:prstGeom>
          <a:noFill/>
          <a:ln/>
        </p:spPr>
        <p:txBody>
          <a:bodyPr wrap="square" lIns="0" tIns="0" rIns="0" bIns="0" rtlCol="0" anchor="ctr"/>
          <a:lstStyle/>
          <a:p>
            <a:pPr indent="0" marL="0">
              <a:buNone/>
            </a:pPr>
            <a:r>
              <a:rPr lang="en-US" sz="1200" b="1" spc="200" kern="0" dirty="0">
                <a:solidFill>
                  <a:srgbClr val="3E5C76"/>
                </a:solidFill>
                <a:latin typeface="Arial" pitchFamily="34" charset="0"/>
                <a:ea typeface="Arial" pitchFamily="34" charset="-122"/>
                <a:cs typeface="Arial" pitchFamily="34" charset="-120"/>
              </a:rPr>
              <a:t>JOB SEEKERS</a:t>
            </a:r>
            <a:endParaRPr lang="en-US" sz="1200" dirty="0"/>
          </a:p>
        </p:txBody>
      </p:sp>
      <p:sp>
        <p:nvSpPr>
          <p:cNvPr id="11" name="Shape 8"/>
          <p:cNvSpPr/>
          <p:nvPr/>
        </p:nvSpPr>
        <p:spPr>
          <a:xfrm>
            <a:off x="4353458" y="2148840"/>
            <a:ext cx="3484778" cy="658368"/>
          </a:xfrm>
          <a:prstGeom prst="roundRect">
            <a:avLst>
              <a:gd name="adj" fmla="val 50000"/>
            </a:avLst>
          </a:prstGeom>
          <a:solidFill>
            <a:srgbClr val="FFFFFF"/>
          </a:solidFill>
          <a:ln w="12700">
            <a:solidFill>
              <a:srgbClr val="D5D9DE"/>
            </a:solidFill>
            <a:prstDash val="solid"/>
          </a:ln>
          <a:effectLst>
            <a:outerShdw sx="100000" sy="100000" kx="0" ky="0" algn="bl" rotWithShape="0" blurRad="101600" dist="25400" dir="5400000">
              <a:srgbClr val="000000">
                <a:alpha val="12000"/>
              </a:srgbClr>
            </a:outerShdw>
          </a:effectLst>
        </p:spPr>
      </p:sp>
      <p:pic>
        <p:nvPicPr>
          <p:cNvPr id="12" name="Image 1" descr="preencoded.png">    </p:cNvPr>
          <p:cNvPicPr>
            <a:picLocks noChangeAspect="1"/>
          </p:cNvPicPr>
          <p:nvPr/>
        </p:nvPicPr>
        <p:blipFill>
          <a:blip r:embed="rId2"/>
          <a:stretch>
            <a:fillRect/>
          </a:stretch>
        </p:blipFill>
        <p:spPr>
          <a:xfrm>
            <a:off x="4609490" y="2340864"/>
            <a:ext cx="274320" cy="274320"/>
          </a:xfrm>
          <a:prstGeom prst="rect">
            <a:avLst/>
          </a:prstGeom>
        </p:spPr>
      </p:pic>
      <p:sp>
        <p:nvSpPr>
          <p:cNvPr id="13" name="Text 9"/>
          <p:cNvSpPr txBox="1"/>
          <p:nvPr/>
        </p:nvSpPr>
        <p:spPr>
          <a:xfrm>
            <a:off x="5011826" y="2148840"/>
            <a:ext cx="2616098" cy="658368"/>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equipment operator jobs near me</a:t>
            </a:r>
            <a:endParaRPr lang="en-US" sz="1500" dirty="0"/>
          </a:p>
        </p:txBody>
      </p:sp>
      <p:sp>
        <p:nvSpPr>
          <p:cNvPr id="14" name="Text 10"/>
          <p:cNvSpPr txBox="1"/>
          <p:nvPr/>
        </p:nvSpPr>
        <p:spPr>
          <a:xfrm>
            <a:off x="4353458" y="3063240"/>
            <a:ext cx="3484778" cy="32004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What they find</a:t>
            </a:r>
            <a:endParaRPr lang="en-US" sz="1500" dirty="0"/>
          </a:p>
        </p:txBody>
      </p:sp>
      <p:sp>
        <p:nvSpPr>
          <p:cNvPr id="15" name="Text 11"/>
          <p:cNvSpPr txBox="1"/>
          <p:nvPr/>
        </p:nvSpPr>
        <p:spPr>
          <a:xfrm>
            <a:off x="4353458" y="3401568"/>
            <a:ext cx="3484778" cy="1005840"/>
          </a:xfrm>
          <a:prstGeom prst="rect">
            <a:avLst/>
          </a:prstGeom>
          <a:noFill/>
          <a:ln/>
        </p:spPr>
        <p:txBody>
          <a:bodyPr wrap="square" lIns="0" tIns="0" rIns="0" bIns="0" rtlCol="0" anchor="t"/>
          <a:lstStyle/>
          <a:p>
            <a:pPr indent="0" marL="0">
              <a:buNone/>
            </a:pPr>
            <a:r>
              <a:rPr lang="en-US" sz="1500" dirty="0">
                <a:solidFill>
                  <a:srgbClr val="3D4752"/>
                </a:solidFill>
                <a:latin typeface="Calibri" pitchFamily="34" charset="0"/>
                <a:ea typeface="Calibri" pitchFamily="34" charset="-122"/>
                <a:cs typeface="Calibri" pitchFamily="34" charset="-120"/>
              </a:rPr>
              <a:t>Your openings in Google’s job listings, with a one-tap mobile application.</a:t>
            </a:r>
            <a:endParaRPr lang="en-US" sz="1500" dirty="0"/>
          </a:p>
        </p:txBody>
      </p:sp>
      <p:sp>
        <p:nvSpPr>
          <p:cNvPr id="16" name="Text 12"/>
          <p:cNvSpPr txBox="1"/>
          <p:nvPr/>
        </p:nvSpPr>
        <p:spPr>
          <a:xfrm>
            <a:off x="8158277" y="1783080"/>
            <a:ext cx="3484778" cy="274320"/>
          </a:xfrm>
          <a:prstGeom prst="rect">
            <a:avLst/>
          </a:prstGeom>
          <a:noFill/>
          <a:ln/>
        </p:spPr>
        <p:txBody>
          <a:bodyPr wrap="square" lIns="0" tIns="0" rIns="0" bIns="0" rtlCol="0" anchor="ctr"/>
          <a:lstStyle/>
          <a:p>
            <a:pPr indent="0" marL="0">
              <a:buNone/>
            </a:pPr>
            <a:r>
              <a:rPr lang="en-US" sz="1200" b="1" spc="200" kern="0" dirty="0">
                <a:solidFill>
                  <a:srgbClr val="3E5C76"/>
                </a:solidFill>
                <a:latin typeface="Arial" pitchFamily="34" charset="0"/>
                <a:ea typeface="Arial" pitchFamily="34" charset="-122"/>
                <a:cs typeface="Arial" pitchFamily="34" charset="-120"/>
              </a:rPr>
              <a:t>SUBCONTRACTORS</a:t>
            </a:r>
            <a:endParaRPr lang="en-US" sz="1200" dirty="0"/>
          </a:p>
        </p:txBody>
      </p:sp>
      <p:sp>
        <p:nvSpPr>
          <p:cNvPr id="17" name="Shape 13"/>
          <p:cNvSpPr/>
          <p:nvPr/>
        </p:nvSpPr>
        <p:spPr>
          <a:xfrm>
            <a:off x="8158277" y="2148840"/>
            <a:ext cx="3484778" cy="658368"/>
          </a:xfrm>
          <a:prstGeom prst="roundRect">
            <a:avLst>
              <a:gd name="adj" fmla="val 50000"/>
            </a:avLst>
          </a:prstGeom>
          <a:solidFill>
            <a:srgbClr val="FFFFFF"/>
          </a:solidFill>
          <a:ln w="12700">
            <a:solidFill>
              <a:srgbClr val="D5D9DE"/>
            </a:solidFill>
            <a:prstDash val="solid"/>
          </a:ln>
          <a:effectLst>
            <a:outerShdw sx="100000" sy="100000" kx="0" ky="0" algn="bl" rotWithShape="0" blurRad="101600" dist="25400" dir="5400000">
              <a:srgbClr val="000000">
                <a:alpha val="12000"/>
              </a:srgbClr>
            </a:outerShdw>
          </a:effectLst>
        </p:spPr>
      </p:sp>
      <p:pic>
        <p:nvPicPr>
          <p:cNvPr id="18" name="Image 2" descr="preencoded.png">    </p:cNvPr>
          <p:cNvPicPr>
            <a:picLocks noChangeAspect="1"/>
          </p:cNvPicPr>
          <p:nvPr/>
        </p:nvPicPr>
        <p:blipFill>
          <a:blip r:embed="rId3"/>
          <a:stretch>
            <a:fillRect/>
          </a:stretch>
        </p:blipFill>
        <p:spPr>
          <a:xfrm>
            <a:off x="8414309" y="2340864"/>
            <a:ext cx="274320" cy="274320"/>
          </a:xfrm>
          <a:prstGeom prst="rect">
            <a:avLst/>
          </a:prstGeom>
        </p:spPr>
      </p:pic>
      <p:sp>
        <p:nvSpPr>
          <p:cNvPr id="19" name="Text 14"/>
          <p:cNvSpPr txBox="1"/>
          <p:nvPr/>
        </p:nvSpPr>
        <p:spPr>
          <a:xfrm>
            <a:off x="8816645" y="2148840"/>
            <a:ext cx="2616098" cy="658368"/>
          </a:xfrm>
          <a:prstGeom prst="rect">
            <a:avLst/>
          </a:prstGeom>
          <a:noFill/>
          <a:ln/>
        </p:spPr>
        <p:txBody>
          <a:bodyPr wrap="square" lIns="0" tIns="0" rIns="0" bIns="0" rtlCol="0" anchor="ctr"/>
          <a:lstStyle/>
          <a:p>
            <a:pPr indent="0" marL="0">
              <a:buNone/>
            </a:pPr>
            <a:r>
              <a:rPr lang="en-US" sz="1500" dirty="0">
                <a:solidFill>
                  <a:srgbClr val="1F2933"/>
                </a:solidFill>
                <a:latin typeface="Calibri" pitchFamily="34" charset="0"/>
                <a:ea typeface="Calibri" pitchFamily="34" charset="-122"/>
                <a:cs typeface="Calibri" pitchFamily="34" charset="-120"/>
              </a:rPr>
              <a:t>sewer project subcontract bids</a:t>
            </a:r>
            <a:endParaRPr lang="en-US" sz="1500" dirty="0"/>
          </a:p>
        </p:txBody>
      </p:sp>
      <p:sp>
        <p:nvSpPr>
          <p:cNvPr id="20" name="Text 15"/>
          <p:cNvSpPr txBox="1"/>
          <p:nvPr/>
        </p:nvSpPr>
        <p:spPr>
          <a:xfrm>
            <a:off x="8158277" y="3063240"/>
            <a:ext cx="3484778" cy="32004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What they find</a:t>
            </a:r>
            <a:endParaRPr lang="en-US" sz="1500" dirty="0"/>
          </a:p>
        </p:txBody>
      </p:sp>
      <p:sp>
        <p:nvSpPr>
          <p:cNvPr id="21" name="Text 16"/>
          <p:cNvSpPr txBox="1"/>
          <p:nvPr/>
        </p:nvSpPr>
        <p:spPr>
          <a:xfrm>
            <a:off x="8158277" y="3401568"/>
            <a:ext cx="3484778" cy="1005840"/>
          </a:xfrm>
          <a:prstGeom prst="rect">
            <a:avLst/>
          </a:prstGeom>
          <a:noFill/>
          <a:ln/>
        </p:spPr>
        <p:txBody>
          <a:bodyPr wrap="square" lIns="0" tIns="0" rIns="0" bIns="0" rtlCol="0" anchor="t"/>
          <a:lstStyle/>
          <a:p>
            <a:pPr indent="0" marL="0">
              <a:buNone/>
            </a:pPr>
            <a:r>
              <a:rPr lang="en-US" sz="1500" dirty="0">
                <a:solidFill>
                  <a:srgbClr val="3D4752"/>
                </a:solidFill>
                <a:latin typeface="Calibri" pitchFamily="34" charset="0"/>
                <a:ea typeface="Calibri" pitchFamily="34" charset="-122"/>
                <a:cs typeface="Calibri" pitchFamily="34" charset="-120"/>
              </a:rPr>
              <a:t>Your open packages, due dates, and bidder registration.</a:t>
            </a:r>
            <a:endParaRPr lang="en-US" sz="1500" dirty="0"/>
          </a:p>
        </p:txBody>
      </p:sp>
      <p:sp>
        <p:nvSpPr>
          <p:cNvPr id="22" name="Shape 17"/>
          <p:cNvSpPr/>
          <p:nvPr/>
        </p:nvSpPr>
        <p:spPr>
          <a:xfrm>
            <a:off x="548640" y="4754880"/>
            <a:ext cx="11094415" cy="1234440"/>
          </a:xfrm>
          <a:prstGeom prst="roundRect">
            <a:avLst>
              <a:gd name="adj" fmla="val 7407"/>
            </a:avLst>
          </a:prstGeom>
          <a:solidFill>
            <a:srgbClr val="171C22"/>
          </a:solidFill>
          <a:ln w="12700">
            <a:solidFill>
              <a:srgbClr val="171C22"/>
            </a:solidFill>
            <a:prstDash val="solid"/>
          </a:ln>
        </p:spPr>
      </p:sp>
      <p:sp>
        <p:nvSpPr>
          <p:cNvPr id="23" name="Shape 18"/>
          <p:cNvSpPr/>
          <p:nvPr/>
        </p:nvSpPr>
        <p:spPr>
          <a:xfrm>
            <a:off x="868680" y="5074920"/>
            <a:ext cx="566928" cy="566928"/>
          </a:xfrm>
          <a:prstGeom prst="ellipse">
            <a:avLst/>
          </a:prstGeom>
          <a:solidFill>
            <a:srgbClr val="3E5C76"/>
          </a:solidFill>
          <a:ln w="12700">
            <a:solidFill>
              <a:srgbClr val="3E5C76"/>
            </a:solidFill>
            <a:prstDash val="solid"/>
          </a:ln>
        </p:spPr>
      </p:sp>
      <p:pic>
        <p:nvPicPr>
          <p:cNvPr id="24" name="Image 3" descr="preencoded.png">    </p:cNvPr>
          <p:cNvPicPr>
            <a:picLocks noChangeAspect="1"/>
          </p:cNvPicPr>
          <p:nvPr/>
        </p:nvPicPr>
        <p:blipFill>
          <a:blip r:embed="rId4"/>
          <a:stretch>
            <a:fillRect/>
          </a:stretch>
        </p:blipFill>
        <p:spPr>
          <a:xfrm>
            <a:off x="1016081" y="5222321"/>
            <a:ext cx="272125" cy="272125"/>
          </a:xfrm>
          <a:prstGeom prst="rect">
            <a:avLst/>
          </a:prstGeom>
        </p:spPr>
      </p:pic>
      <p:sp>
        <p:nvSpPr>
          <p:cNvPr id="25" name="Text 19"/>
          <p:cNvSpPr txBox="1"/>
          <p:nvPr/>
        </p:nvSpPr>
        <p:spPr>
          <a:xfrm>
            <a:off x="1691640" y="4754880"/>
            <a:ext cx="9631375" cy="12344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More searches now end with an AI answer, not a list of links. </a:t>
            </a:r>
            <a:pPr indent="0" marL="0">
              <a:buNone/>
            </a:pPr>
            <a:r>
              <a:rPr lang="en-US" sz="1500" dirty="0">
                <a:solidFill>
                  <a:srgbClr val="C9CED4"/>
                </a:solidFill>
                <a:latin typeface="Calibri" pitchFamily="34" charset="0"/>
                <a:ea typeface="Calibri" pitchFamily="34" charset="-122"/>
                <a:cs typeface="Calibri" pitchFamily="34" charset="-120"/>
              </a:rPr>
              <a:t>Google AI Overviews, ChatGPT, Perplexity, and Copilot summarize the sources they trust. The goal is for Pamar to be the source they name.</a:t>
            </a:r>
            <a:endParaRPr lang="en-US" sz="1500" dirty="0"/>
          </a:p>
        </p:txBody>
      </p:sp>
      <p:sp>
        <p:nvSpPr>
          <p:cNvPr id="26" name="Text 20"/>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27" name="Text 21"/>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TWO WAYS TO GET FOUND</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Rank in search. Get cited in answers.</a:t>
            </a:r>
            <a:endParaRPr lang="en-US" sz="3400" dirty="0"/>
          </a:p>
        </p:txBody>
      </p:sp>
      <p:sp>
        <p:nvSpPr>
          <p:cNvPr id="4" name="Shape 2"/>
          <p:cNvSpPr/>
          <p:nvPr/>
        </p:nvSpPr>
        <p:spPr>
          <a:xfrm>
            <a:off x="548640" y="1737360"/>
            <a:ext cx="3246120" cy="3931920"/>
          </a:xfrm>
          <a:prstGeom prst="roundRect">
            <a:avLst>
              <a:gd name="adj" fmla="val 3380"/>
            </a:avLst>
          </a:prstGeom>
          <a:solidFill>
            <a:srgbClr val="F3F4F6"/>
          </a:solidFill>
          <a:ln w="12700">
            <a:solidFill>
              <a:srgbClr val="F3F4F6"/>
            </a:solidFill>
            <a:prstDash val="solid"/>
          </a:ln>
        </p:spPr>
      </p:sp>
      <p:sp>
        <p:nvSpPr>
          <p:cNvPr id="5" name="Shape 3"/>
          <p:cNvSpPr/>
          <p:nvPr/>
        </p:nvSpPr>
        <p:spPr>
          <a:xfrm>
            <a:off x="822960" y="2011680"/>
            <a:ext cx="548640" cy="548640"/>
          </a:xfrm>
          <a:prstGeom prst="ellipse">
            <a:avLst/>
          </a:prstGeom>
          <a:solidFill>
            <a:srgbClr val="F7C92D"/>
          </a:solidFill>
          <a:ln w="12700">
            <a:solidFill>
              <a:srgbClr val="F7C92D"/>
            </a:solidFill>
            <a:prstDash val="solid"/>
          </a:ln>
        </p:spPr>
      </p:sp>
      <p:pic>
        <p:nvPicPr>
          <p:cNvPr id="6" name="Image 0" descr="preencoded.png">    </p:cNvPr>
          <p:cNvPicPr>
            <a:picLocks noChangeAspect="1"/>
          </p:cNvPicPr>
          <p:nvPr/>
        </p:nvPicPr>
        <p:blipFill>
          <a:blip r:embed="rId1"/>
          <a:stretch>
            <a:fillRect/>
          </a:stretch>
        </p:blipFill>
        <p:spPr>
          <a:xfrm>
            <a:off x="965606" y="2154326"/>
            <a:ext cx="263347" cy="263347"/>
          </a:xfrm>
          <a:prstGeom prst="rect">
            <a:avLst/>
          </a:prstGeom>
        </p:spPr>
      </p:pic>
      <p:sp>
        <p:nvSpPr>
          <p:cNvPr id="7" name="Text 4"/>
          <p:cNvSpPr txBox="1"/>
          <p:nvPr/>
        </p:nvSpPr>
        <p:spPr>
          <a:xfrm>
            <a:off x="1508760" y="2011680"/>
            <a:ext cx="2103120" cy="548640"/>
          </a:xfrm>
          <a:prstGeom prst="rect">
            <a:avLst/>
          </a:prstGeom>
          <a:noFill/>
          <a:ln/>
        </p:spPr>
        <p:txBody>
          <a:bodyPr wrap="square" lIns="0" tIns="0" rIns="0" bIns="0" rtlCol="0" anchor="ctr"/>
          <a:lstStyle/>
          <a:p>
            <a:pPr indent="0" marL="0">
              <a:buNone/>
            </a:pPr>
            <a:r>
              <a:rPr lang="en-US" sz="1600" b="1" dirty="0">
                <a:solidFill>
                  <a:srgbClr val="1F2933"/>
                </a:solidFill>
                <a:latin typeface="Arial" pitchFamily="34" charset="0"/>
                <a:ea typeface="Arial" pitchFamily="34" charset="-122"/>
                <a:cs typeface="Arial" pitchFamily="34" charset="-120"/>
              </a:rPr>
              <a:t>SEO: search engines</a:t>
            </a:r>
            <a:endParaRPr lang="en-US" sz="1600" dirty="0"/>
          </a:p>
        </p:txBody>
      </p:sp>
      <p:sp>
        <p:nvSpPr>
          <p:cNvPr id="8" name="Text 5"/>
          <p:cNvSpPr txBox="1"/>
          <p:nvPr/>
        </p:nvSpPr>
        <p:spPr>
          <a:xfrm>
            <a:off x="822960" y="2743200"/>
            <a:ext cx="2697480" cy="731520"/>
          </a:xfrm>
          <a:prstGeom prst="rect">
            <a:avLst/>
          </a:prstGeom>
          <a:noFill/>
          <a:ln/>
        </p:spPr>
        <p:txBody>
          <a:bodyPr wrap="square" lIns="0" tIns="0" rIns="0" bIns="0" rtlCol="0" anchor="t"/>
          <a:lstStyle/>
          <a:p>
            <a:pPr indent="0" marL="0">
              <a:buNone/>
            </a:pPr>
            <a:r>
              <a:rPr lang="en-US" sz="1400" i="1" dirty="0">
                <a:solidFill>
                  <a:srgbClr val="3E5C76"/>
                </a:solidFill>
                <a:latin typeface="Calibri" pitchFamily="34" charset="0"/>
                <a:ea typeface="Calibri" pitchFamily="34" charset="-122"/>
                <a:cs typeface="Calibri" pitchFamily="34" charset="-120"/>
              </a:rPr>
              <a:t>Rank in Google search, Maps, and Google’s job listings.</a:t>
            </a:r>
            <a:endParaRPr lang="en-US" sz="1400" dirty="0"/>
          </a:p>
        </p:txBody>
      </p:sp>
      <p:sp>
        <p:nvSpPr>
          <p:cNvPr id="9" name="Text 6"/>
          <p:cNvSpPr txBox="1"/>
          <p:nvPr/>
        </p:nvSpPr>
        <p:spPr>
          <a:xfrm>
            <a:off x="822960" y="3520440"/>
            <a:ext cx="26974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Fast, mobile-first pages</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Clean URLs and a sitemap</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Local listings and Google Business Profile</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Job posting markup</a:t>
            </a:r>
            <a:endParaRPr lang="en-US" sz="1400" dirty="0"/>
          </a:p>
        </p:txBody>
      </p:sp>
      <p:sp>
        <p:nvSpPr>
          <p:cNvPr id="10" name="Shape 7"/>
          <p:cNvSpPr/>
          <p:nvPr/>
        </p:nvSpPr>
        <p:spPr>
          <a:xfrm>
            <a:off x="4069080" y="1737360"/>
            <a:ext cx="3246120" cy="3931920"/>
          </a:xfrm>
          <a:prstGeom prst="roundRect">
            <a:avLst>
              <a:gd name="adj" fmla="val 3380"/>
            </a:avLst>
          </a:prstGeom>
          <a:solidFill>
            <a:srgbClr val="F3F4F6"/>
          </a:solidFill>
          <a:ln w="12700">
            <a:solidFill>
              <a:srgbClr val="F3F4F6"/>
            </a:solidFill>
            <a:prstDash val="solid"/>
          </a:ln>
        </p:spPr>
      </p:sp>
      <p:sp>
        <p:nvSpPr>
          <p:cNvPr id="11" name="Shape 8"/>
          <p:cNvSpPr/>
          <p:nvPr/>
        </p:nvSpPr>
        <p:spPr>
          <a:xfrm>
            <a:off x="4343400" y="2011680"/>
            <a:ext cx="548640" cy="548640"/>
          </a:xfrm>
          <a:prstGeom prst="ellipse">
            <a:avLst/>
          </a:prstGeom>
          <a:solidFill>
            <a:srgbClr val="F7C92D"/>
          </a:solidFill>
          <a:ln w="12700">
            <a:solidFill>
              <a:srgbClr val="F7C92D"/>
            </a:solidFill>
            <a:prstDash val="solid"/>
          </a:ln>
        </p:spPr>
      </p:sp>
      <p:pic>
        <p:nvPicPr>
          <p:cNvPr id="12" name="Image 1" descr="preencoded.png">    </p:cNvPr>
          <p:cNvPicPr>
            <a:picLocks noChangeAspect="1"/>
          </p:cNvPicPr>
          <p:nvPr/>
        </p:nvPicPr>
        <p:blipFill>
          <a:blip r:embed="rId2"/>
          <a:stretch>
            <a:fillRect/>
          </a:stretch>
        </p:blipFill>
        <p:spPr>
          <a:xfrm>
            <a:off x="4486046" y="2154326"/>
            <a:ext cx="263347" cy="263347"/>
          </a:xfrm>
          <a:prstGeom prst="rect">
            <a:avLst/>
          </a:prstGeom>
        </p:spPr>
      </p:pic>
      <p:sp>
        <p:nvSpPr>
          <p:cNvPr id="13" name="Text 9"/>
          <p:cNvSpPr txBox="1"/>
          <p:nvPr/>
        </p:nvSpPr>
        <p:spPr>
          <a:xfrm>
            <a:off x="5029200" y="2011680"/>
            <a:ext cx="2103120" cy="548640"/>
          </a:xfrm>
          <a:prstGeom prst="rect">
            <a:avLst/>
          </a:prstGeom>
          <a:noFill/>
          <a:ln/>
        </p:spPr>
        <p:txBody>
          <a:bodyPr wrap="square" lIns="0" tIns="0" rIns="0" bIns="0" rtlCol="0" anchor="ctr"/>
          <a:lstStyle/>
          <a:p>
            <a:pPr indent="0" marL="0">
              <a:buNone/>
            </a:pPr>
            <a:r>
              <a:rPr lang="en-US" sz="1600" b="1" dirty="0">
                <a:solidFill>
                  <a:srgbClr val="1F2933"/>
                </a:solidFill>
                <a:latin typeface="Arial" pitchFamily="34" charset="0"/>
                <a:ea typeface="Arial" pitchFamily="34" charset="-122"/>
                <a:cs typeface="Arial" pitchFamily="34" charset="-120"/>
              </a:rPr>
              <a:t>AEO: answer engines</a:t>
            </a:r>
            <a:endParaRPr lang="en-US" sz="1600" dirty="0"/>
          </a:p>
        </p:txBody>
      </p:sp>
      <p:sp>
        <p:nvSpPr>
          <p:cNvPr id="14" name="Text 10"/>
          <p:cNvSpPr txBox="1"/>
          <p:nvPr/>
        </p:nvSpPr>
        <p:spPr>
          <a:xfrm>
            <a:off x="4343400" y="2743200"/>
            <a:ext cx="2697480" cy="731520"/>
          </a:xfrm>
          <a:prstGeom prst="rect">
            <a:avLst/>
          </a:prstGeom>
          <a:noFill/>
          <a:ln/>
        </p:spPr>
        <p:txBody>
          <a:bodyPr wrap="square" lIns="0" tIns="0" rIns="0" bIns="0" rtlCol="0" anchor="t"/>
          <a:lstStyle/>
          <a:p>
            <a:pPr indent="0" marL="0">
              <a:buNone/>
            </a:pPr>
            <a:r>
              <a:rPr lang="en-US" sz="1400" i="1" dirty="0">
                <a:solidFill>
                  <a:srgbClr val="3E5C76"/>
                </a:solidFill>
                <a:latin typeface="Calibri" pitchFamily="34" charset="0"/>
                <a:ea typeface="Calibri" pitchFamily="34" charset="-122"/>
                <a:cs typeface="Calibri" pitchFamily="34" charset="-120"/>
              </a:rPr>
              <a:t>Get named and quoted by AI assistants and AI Overviews.</a:t>
            </a:r>
            <a:endParaRPr lang="en-US" sz="1400" dirty="0"/>
          </a:p>
        </p:txBody>
      </p:sp>
      <p:sp>
        <p:nvSpPr>
          <p:cNvPr id="15" name="Text 11"/>
          <p:cNvSpPr txBox="1"/>
          <p:nvPr/>
        </p:nvSpPr>
        <p:spPr>
          <a:xfrm>
            <a:off x="4343400" y="3520440"/>
            <a:ext cx="26974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Direct answers to real questions</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Structured data machines can read</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An llms.txt summary for AI tools</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Consistent facts everywhere Pamar appears</a:t>
            </a:r>
            <a:endParaRPr lang="en-US" sz="1400" dirty="0"/>
          </a:p>
        </p:txBody>
      </p:sp>
      <p:sp>
        <p:nvSpPr>
          <p:cNvPr id="16" name="Text 12"/>
          <p:cNvSpPr txBox="1"/>
          <p:nvPr/>
        </p:nvSpPr>
        <p:spPr>
          <a:xfrm>
            <a:off x="7680960" y="1737360"/>
            <a:ext cx="3962095" cy="274320"/>
          </a:xfrm>
          <a:prstGeom prst="rect">
            <a:avLst/>
          </a:prstGeom>
          <a:noFill/>
          <a:ln/>
        </p:spPr>
        <p:txBody>
          <a:bodyPr wrap="square" lIns="0" tIns="0" rIns="0" bIns="0" rtlCol="0" anchor="ctr"/>
          <a:lstStyle/>
          <a:p>
            <a:pPr indent="0" marL="0">
              <a:buNone/>
            </a:pPr>
            <a:r>
              <a:rPr lang="en-US" sz="1100" b="1" spc="200" kern="0" dirty="0">
                <a:solidFill>
                  <a:srgbClr val="3E5C76"/>
                </a:solidFill>
                <a:latin typeface="Arial" pitchFamily="34" charset="0"/>
                <a:ea typeface="Arial" pitchFamily="34" charset="-122"/>
                <a:cs typeface="Arial" pitchFamily="34" charset="-120"/>
              </a:rPr>
              <a:t>ALREADY BUILT INTO THE NEW SITE</a:t>
            </a:r>
            <a:endParaRPr lang="en-US" sz="1100" dirty="0"/>
          </a:p>
        </p:txBody>
      </p:sp>
      <p:sp>
        <p:nvSpPr>
          <p:cNvPr id="17" name="Shape 13"/>
          <p:cNvSpPr/>
          <p:nvPr/>
        </p:nvSpPr>
        <p:spPr>
          <a:xfrm>
            <a:off x="7635240" y="2103120"/>
            <a:ext cx="4053535" cy="1886474"/>
          </a:xfrm>
          <a:prstGeom prst="rect">
            <a:avLst/>
          </a:prstGeom>
          <a:solidFill>
            <a:srgbClr val="FFFFFF"/>
          </a:solidFill>
          <a:ln w="9525">
            <a:solidFill>
              <a:srgbClr val="D5D9DE"/>
            </a:solidFill>
            <a:prstDash val="solid"/>
          </a:ln>
          <a:effectLst>
            <a:outerShdw sx="100000" sy="100000" kx="0" ky="0" algn="bl" rotWithShape="0" blurRad="152400" dist="50800" dir="5400000">
              <a:srgbClr val="000000">
                <a:alpha val="18000"/>
              </a:srgbClr>
            </a:outerShdw>
          </a:effectLst>
        </p:spPr>
      </p:sp>
      <p:pic>
        <p:nvPicPr>
          <p:cNvPr id="18" name="Image 2" descr="/tmp/claude-0/-home-user-pamar/b73e6f80-a414-5ae8-90eb-ab78d9502716/scratchpad/deck/img/faq-block.png">    </p:cNvPr>
          <p:cNvPicPr>
            <a:picLocks noChangeAspect="1"/>
          </p:cNvPicPr>
          <p:nvPr/>
        </p:nvPicPr>
        <p:blipFill>
          <a:blip r:embed="rId3"/>
          <a:stretch>
            <a:fillRect/>
          </a:stretch>
        </p:blipFill>
        <p:spPr>
          <a:xfrm>
            <a:off x="7680960" y="2148840"/>
            <a:ext cx="3962095" cy="1795034"/>
          </a:xfrm>
          <a:prstGeom prst="rect">
            <a:avLst/>
          </a:prstGeom>
        </p:spPr>
      </p:pic>
      <p:sp>
        <p:nvSpPr>
          <p:cNvPr id="19" name="Text 14"/>
          <p:cNvSpPr txBox="1"/>
          <p:nvPr/>
        </p:nvSpPr>
        <p:spPr>
          <a:xfrm>
            <a:off x="7680960" y="4126754"/>
            <a:ext cx="3962095" cy="548640"/>
          </a:xfrm>
          <a:prstGeom prst="rect">
            <a:avLst/>
          </a:prstGeom>
          <a:noFill/>
          <a:ln/>
        </p:spPr>
        <p:txBody>
          <a:bodyPr wrap="square" lIns="0" tIns="0" rIns="0" bIns="0" rtlCol="0" anchor="t"/>
          <a:lstStyle/>
          <a:p>
            <a:pPr indent="0" marL="0">
              <a:buNone/>
            </a:pPr>
            <a:r>
              <a:rPr lang="en-US" sz="1200" i="1" dirty="0">
                <a:solidFill>
                  <a:srgbClr val="6B7580"/>
                </a:solidFill>
                <a:latin typeface="Calibri" pitchFamily="34" charset="0"/>
                <a:ea typeface="Calibri" pitchFamily="34" charset="-122"/>
                <a:cs typeface="Calibri" pitchFamily="34" charset="-120"/>
              </a:rPr>
              <a:t>Direct answers on every service page, marked up so search engines and AI tools can quote them.</a:t>
            </a:r>
            <a:endParaRPr lang="en-US" sz="1200" dirty="0"/>
          </a:p>
        </p:txBody>
      </p:sp>
      <p:pic>
        <p:nvPicPr>
          <p:cNvPr id="20" name="Image 3" descr="preencoded.png">    </p:cNvPr>
          <p:cNvPicPr>
            <a:picLocks noChangeAspect="1"/>
          </p:cNvPicPr>
          <p:nvPr/>
        </p:nvPicPr>
        <p:blipFill>
          <a:blip r:embed="rId4"/>
          <a:stretch>
            <a:fillRect/>
          </a:stretch>
        </p:blipFill>
        <p:spPr>
          <a:xfrm>
            <a:off x="7680960" y="4867418"/>
            <a:ext cx="182880" cy="182880"/>
          </a:xfrm>
          <a:prstGeom prst="rect">
            <a:avLst/>
          </a:prstGeom>
        </p:spPr>
      </p:pic>
      <p:sp>
        <p:nvSpPr>
          <p:cNvPr id="21" name="Text 15"/>
          <p:cNvSpPr txBox="1"/>
          <p:nvPr/>
        </p:nvSpPr>
        <p:spPr>
          <a:xfrm>
            <a:off x="8001000" y="4812554"/>
            <a:ext cx="3642055" cy="29260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Structured data on every key page</a:t>
            </a:r>
            <a:endParaRPr lang="en-US" sz="1300" dirty="0"/>
          </a:p>
        </p:txBody>
      </p:sp>
      <p:pic>
        <p:nvPicPr>
          <p:cNvPr id="22" name="Image 4" descr="preencoded.png">    </p:cNvPr>
          <p:cNvPicPr>
            <a:picLocks noChangeAspect="1"/>
          </p:cNvPicPr>
          <p:nvPr/>
        </p:nvPicPr>
        <p:blipFill>
          <a:blip r:embed="rId5"/>
          <a:stretch>
            <a:fillRect/>
          </a:stretch>
        </p:blipFill>
        <p:spPr>
          <a:xfrm>
            <a:off x="7680960" y="5214890"/>
            <a:ext cx="182880" cy="182880"/>
          </a:xfrm>
          <a:prstGeom prst="rect">
            <a:avLst/>
          </a:prstGeom>
        </p:spPr>
      </p:pic>
      <p:sp>
        <p:nvSpPr>
          <p:cNvPr id="23" name="Text 16"/>
          <p:cNvSpPr txBox="1"/>
          <p:nvPr/>
        </p:nvSpPr>
        <p:spPr>
          <a:xfrm>
            <a:off x="8001000" y="5160026"/>
            <a:ext cx="3642055" cy="29260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Google job listing markup</a:t>
            </a:r>
            <a:endParaRPr lang="en-US" sz="1300" dirty="0"/>
          </a:p>
        </p:txBody>
      </p:sp>
      <p:pic>
        <p:nvPicPr>
          <p:cNvPr id="24" name="Image 5" descr="preencoded.png">    </p:cNvPr>
          <p:cNvPicPr>
            <a:picLocks noChangeAspect="1"/>
          </p:cNvPicPr>
          <p:nvPr/>
        </p:nvPicPr>
        <p:blipFill>
          <a:blip r:embed="rId6"/>
          <a:stretch>
            <a:fillRect/>
          </a:stretch>
        </p:blipFill>
        <p:spPr>
          <a:xfrm>
            <a:off x="7680960" y="5562362"/>
            <a:ext cx="182880" cy="182880"/>
          </a:xfrm>
          <a:prstGeom prst="rect">
            <a:avLst/>
          </a:prstGeom>
        </p:spPr>
      </p:pic>
      <p:sp>
        <p:nvSpPr>
          <p:cNvPr id="25" name="Text 17"/>
          <p:cNvSpPr txBox="1"/>
          <p:nvPr/>
        </p:nvSpPr>
        <p:spPr>
          <a:xfrm>
            <a:off x="8001000" y="5507498"/>
            <a:ext cx="3642055" cy="29260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FAQ answers + llms.txt</a:t>
            </a:r>
            <a:endParaRPr lang="en-US" sz="1300" dirty="0"/>
          </a:p>
        </p:txBody>
      </p:sp>
      <p:pic>
        <p:nvPicPr>
          <p:cNvPr id="26" name="Image 6" descr="preencoded.png">    </p:cNvPr>
          <p:cNvPicPr>
            <a:picLocks noChangeAspect="1"/>
          </p:cNvPicPr>
          <p:nvPr/>
        </p:nvPicPr>
        <p:blipFill>
          <a:blip r:embed="rId7"/>
          <a:stretch>
            <a:fillRect/>
          </a:stretch>
        </p:blipFill>
        <p:spPr>
          <a:xfrm>
            <a:off x="7680960" y="5909834"/>
            <a:ext cx="182880" cy="182880"/>
          </a:xfrm>
          <a:prstGeom prst="rect">
            <a:avLst/>
          </a:prstGeom>
        </p:spPr>
      </p:pic>
      <p:sp>
        <p:nvSpPr>
          <p:cNvPr id="27" name="Text 18"/>
          <p:cNvSpPr txBox="1"/>
          <p:nvPr/>
        </p:nvSpPr>
        <p:spPr>
          <a:xfrm>
            <a:off x="8001000" y="5854970"/>
            <a:ext cx="3642055" cy="292608"/>
          </a:xfrm>
          <a:prstGeom prst="rect">
            <a:avLst/>
          </a:prstGeom>
          <a:noFill/>
          <a:ln/>
        </p:spPr>
        <p:txBody>
          <a:bodyPr wrap="square" lIns="0" tIns="0" rIns="0" bIns="0" rtlCol="0" anchor="ctr"/>
          <a:lstStyle/>
          <a:p>
            <a:pPr indent="0" marL="0">
              <a:buNone/>
            </a:pPr>
            <a:r>
              <a:rPr lang="en-US" sz="1300" dirty="0">
                <a:solidFill>
                  <a:srgbClr val="1F2933"/>
                </a:solidFill>
                <a:latin typeface="Calibri" pitchFamily="34" charset="0"/>
                <a:ea typeface="Calibri" pitchFamily="34" charset="-122"/>
                <a:cs typeface="Calibri" pitchFamily="34" charset="-120"/>
              </a:rPr>
              <a:t>Sitemap, fast mobile pages</a:t>
            </a:r>
            <a:endParaRPr lang="en-US" sz="1300" dirty="0"/>
          </a:p>
        </p:txBody>
      </p:sp>
      <p:sp>
        <p:nvSpPr>
          <p:cNvPr id="28" name="Text 19"/>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29" name="Text 20"/>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AFTER LAUNCH</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Your online presence, managed</a:t>
            </a:r>
            <a:endParaRPr lang="en-US" sz="3400" dirty="0"/>
          </a:p>
        </p:txBody>
      </p:sp>
      <p:sp>
        <p:nvSpPr>
          <p:cNvPr id="4" name="Shape 2"/>
          <p:cNvSpPr/>
          <p:nvPr/>
        </p:nvSpPr>
        <p:spPr>
          <a:xfrm>
            <a:off x="548640" y="1783080"/>
            <a:ext cx="502920" cy="502920"/>
          </a:xfrm>
          <a:prstGeom prst="ellipse">
            <a:avLst/>
          </a:prstGeom>
          <a:solidFill>
            <a:srgbClr val="F7C92D"/>
          </a:solidFill>
          <a:ln w="12700">
            <a:solidFill>
              <a:srgbClr val="F7C92D"/>
            </a:solidFill>
            <a:prstDash val="solid"/>
          </a:ln>
        </p:spPr>
      </p:sp>
      <p:pic>
        <p:nvPicPr>
          <p:cNvPr id="5" name="Image 0" descr="preencoded.png">    </p:cNvPr>
          <p:cNvPicPr>
            <a:picLocks noChangeAspect="1"/>
          </p:cNvPicPr>
          <p:nvPr/>
        </p:nvPicPr>
        <p:blipFill>
          <a:blip r:embed="rId1"/>
          <a:stretch>
            <a:fillRect/>
          </a:stretch>
        </p:blipFill>
        <p:spPr>
          <a:xfrm>
            <a:off x="679399" y="1913839"/>
            <a:ext cx="241402" cy="241402"/>
          </a:xfrm>
          <a:prstGeom prst="rect">
            <a:avLst/>
          </a:prstGeom>
        </p:spPr>
      </p:pic>
      <p:sp>
        <p:nvSpPr>
          <p:cNvPr id="6" name="Text 3"/>
          <p:cNvSpPr txBox="1"/>
          <p:nvPr/>
        </p:nvSpPr>
        <p:spPr>
          <a:xfrm>
            <a:off x="1234440" y="1755648"/>
            <a:ext cx="2560320" cy="32004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Google Business Profile</a:t>
            </a:r>
            <a:endParaRPr lang="en-US" sz="1500" dirty="0"/>
          </a:p>
        </p:txBody>
      </p:sp>
      <p:sp>
        <p:nvSpPr>
          <p:cNvPr id="7" name="Text 4"/>
          <p:cNvSpPr txBox="1"/>
          <p:nvPr/>
        </p:nvSpPr>
        <p:spPr>
          <a:xfrm>
            <a:off x="1234440" y="2084832"/>
            <a:ext cx="2560320" cy="731520"/>
          </a:xfrm>
          <a:prstGeom prst="rect">
            <a:avLst/>
          </a:prstGeom>
          <a:noFill/>
          <a:ln/>
        </p:spPr>
        <p:txBody>
          <a:bodyPr wrap="square" lIns="0" tIns="0" rIns="0" bIns="0" rtlCol="0" anchor="t"/>
          <a:lstStyle/>
          <a:p>
            <a:pPr indent="0" marL="0">
              <a:buNone/>
            </a:pPr>
            <a:r>
              <a:rPr lang="en-US" sz="1300" dirty="0">
                <a:solidFill>
                  <a:srgbClr val="3D4752"/>
                </a:solidFill>
                <a:latin typeface="Calibri" pitchFamily="34" charset="0"/>
                <a:ea typeface="Calibri" pitchFamily="34" charset="-122"/>
                <a:cs typeface="Calibri" pitchFamily="34" charset="-120"/>
              </a:rPr>
              <a:t>Accurate hours, services, photos, and posts.</a:t>
            </a:r>
            <a:endParaRPr lang="en-US" sz="1300" dirty="0"/>
          </a:p>
        </p:txBody>
      </p:sp>
      <p:sp>
        <p:nvSpPr>
          <p:cNvPr id="8" name="Shape 5"/>
          <p:cNvSpPr/>
          <p:nvPr/>
        </p:nvSpPr>
        <p:spPr>
          <a:xfrm>
            <a:off x="3977640" y="1783080"/>
            <a:ext cx="502920" cy="502920"/>
          </a:xfrm>
          <a:prstGeom prst="ellipse">
            <a:avLst/>
          </a:prstGeom>
          <a:solidFill>
            <a:srgbClr val="F7C92D"/>
          </a:solidFill>
          <a:ln w="12700">
            <a:solidFill>
              <a:srgbClr val="F7C92D"/>
            </a:solidFill>
            <a:prstDash val="solid"/>
          </a:ln>
        </p:spPr>
      </p:sp>
      <p:pic>
        <p:nvPicPr>
          <p:cNvPr id="9" name="Image 1" descr="preencoded.png">    </p:cNvPr>
          <p:cNvPicPr>
            <a:picLocks noChangeAspect="1"/>
          </p:cNvPicPr>
          <p:nvPr/>
        </p:nvPicPr>
        <p:blipFill>
          <a:blip r:embed="rId2"/>
          <a:stretch>
            <a:fillRect/>
          </a:stretch>
        </p:blipFill>
        <p:spPr>
          <a:xfrm>
            <a:off x="4108399" y="1913839"/>
            <a:ext cx="241402" cy="241402"/>
          </a:xfrm>
          <a:prstGeom prst="rect">
            <a:avLst/>
          </a:prstGeom>
        </p:spPr>
      </p:pic>
      <p:sp>
        <p:nvSpPr>
          <p:cNvPr id="10" name="Text 6"/>
          <p:cNvSpPr txBox="1"/>
          <p:nvPr/>
        </p:nvSpPr>
        <p:spPr>
          <a:xfrm>
            <a:off x="4663440" y="1755648"/>
            <a:ext cx="2560320" cy="32004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Reviews</a:t>
            </a:r>
            <a:endParaRPr lang="en-US" sz="1500" dirty="0"/>
          </a:p>
        </p:txBody>
      </p:sp>
      <p:sp>
        <p:nvSpPr>
          <p:cNvPr id="11" name="Text 7"/>
          <p:cNvSpPr txBox="1"/>
          <p:nvPr/>
        </p:nvSpPr>
        <p:spPr>
          <a:xfrm>
            <a:off x="4663440" y="2084832"/>
            <a:ext cx="2560320" cy="731520"/>
          </a:xfrm>
          <a:prstGeom prst="rect">
            <a:avLst/>
          </a:prstGeom>
          <a:noFill/>
          <a:ln/>
        </p:spPr>
        <p:txBody>
          <a:bodyPr wrap="square" lIns="0" tIns="0" rIns="0" bIns="0" rtlCol="0" anchor="t"/>
          <a:lstStyle/>
          <a:p>
            <a:pPr indent="0" marL="0">
              <a:buNone/>
            </a:pPr>
            <a:r>
              <a:rPr lang="en-US" sz="1300" dirty="0">
                <a:solidFill>
                  <a:srgbClr val="3D4752"/>
                </a:solidFill>
                <a:latin typeface="Calibri" pitchFamily="34" charset="0"/>
                <a:ea typeface="Calibri" pitchFamily="34" charset="-122"/>
                <a:cs typeface="Calibri" pitchFamily="34" charset="-120"/>
              </a:rPr>
              <a:t>A simple process to request and respond to reviews.</a:t>
            </a:r>
            <a:endParaRPr lang="en-US" sz="1300" dirty="0"/>
          </a:p>
        </p:txBody>
      </p:sp>
      <p:sp>
        <p:nvSpPr>
          <p:cNvPr id="12" name="Shape 8"/>
          <p:cNvSpPr/>
          <p:nvPr/>
        </p:nvSpPr>
        <p:spPr>
          <a:xfrm>
            <a:off x="548640" y="3017520"/>
            <a:ext cx="502920" cy="502920"/>
          </a:xfrm>
          <a:prstGeom prst="ellipse">
            <a:avLst/>
          </a:prstGeom>
          <a:solidFill>
            <a:srgbClr val="F7C92D"/>
          </a:solidFill>
          <a:ln w="12700">
            <a:solidFill>
              <a:srgbClr val="F7C92D"/>
            </a:solidFill>
            <a:prstDash val="solid"/>
          </a:ln>
        </p:spPr>
      </p:sp>
      <p:pic>
        <p:nvPicPr>
          <p:cNvPr id="13" name="Image 2" descr="preencoded.png">    </p:cNvPr>
          <p:cNvPicPr>
            <a:picLocks noChangeAspect="1"/>
          </p:cNvPicPr>
          <p:nvPr/>
        </p:nvPicPr>
        <p:blipFill>
          <a:blip r:embed="rId3"/>
          <a:stretch>
            <a:fillRect/>
          </a:stretch>
        </p:blipFill>
        <p:spPr>
          <a:xfrm>
            <a:off x="679399" y="3148279"/>
            <a:ext cx="241402" cy="241402"/>
          </a:xfrm>
          <a:prstGeom prst="rect">
            <a:avLst/>
          </a:prstGeom>
        </p:spPr>
      </p:pic>
      <p:sp>
        <p:nvSpPr>
          <p:cNvPr id="14" name="Text 9"/>
          <p:cNvSpPr txBox="1"/>
          <p:nvPr/>
        </p:nvSpPr>
        <p:spPr>
          <a:xfrm>
            <a:off x="1234440" y="2990088"/>
            <a:ext cx="2560320" cy="32004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Project stories</a:t>
            </a:r>
            <a:endParaRPr lang="en-US" sz="1500" dirty="0"/>
          </a:p>
        </p:txBody>
      </p:sp>
      <p:sp>
        <p:nvSpPr>
          <p:cNvPr id="15" name="Text 10"/>
          <p:cNvSpPr txBox="1"/>
          <p:nvPr/>
        </p:nvSpPr>
        <p:spPr>
          <a:xfrm>
            <a:off x="1234440" y="3319272"/>
            <a:ext cx="2560320" cy="731520"/>
          </a:xfrm>
          <a:prstGeom prst="rect">
            <a:avLst/>
          </a:prstGeom>
          <a:noFill/>
          <a:ln/>
        </p:spPr>
        <p:txBody>
          <a:bodyPr wrap="square" lIns="0" tIns="0" rIns="0" bIns="0" rtlCol="0" anchor="t"/>
          <a:lstStyle/>
          <a:p>
            <a:pPr indent="0" marL="0">
              <a:buNone/>
            </a:pPr>
            <a:r>
              <a:rPr lang="en-US" sz="1300" dirty="0">
                <a:solidFill>
                  <a:srgbClr val="3D4752"/>
                </a:solidFill>
                <a:latin typeface="Calibri" pitchFamily="34" charset="0"/>
                <a:ea typeface="Calibri" pitchFamily="34" charset="-122"/>
                <a:cs typeface="Calibri" pitchFamily="34" charset="-120"/>
              </a:rPr>
              <a:t>New projects published as case studies.</a:t>
            </a:r>
            <a:endParaRPr lang="en-US" sz="1300" dirty="0"/>
          </a:p>
        </p:txBody>
      </p:sp>
      <p:sp>
        <p:nvSpPr>
          <p:cNvPr id="16" name="Shape 11"/>
          <p:cNvSpPr/>
          <p:nvPr/>
        </p:nvSpPr>
        <p:spPr>
          <a:xfrm>
            <a:off x="3977640" y="3017520"/>
            <a:ext cx="502920" cy="502920"/>
          </a:xfrm>
          <a:prstGeom prst="ellipse">
            <a:avLst/>
          </a:prstGeom>
          <a:solidFill>
            <a:srgbClr val="F7C92D"/>
          </a:solidFill>
          <a:ln w="12700">
            <a:solidFill>
              <a:srgbClr val="F7C92D"/>
            </a:solidFill>
            <a:prstDash val="solid"/>
          </a:ln>
        </p:spPr>
      </p:sp>
      <p:pic>
        <p:nvPicPr>
          <p:cNvPr id="17" name="Image 3" descr="preencoded.png">    </p:cNvPr>
          <p:cNvPicPr>
            <a:picLocks noChangeAspect="1"/>
          </p:cNvPicPr>
          <p:nvPr/>
        </p:nvPicPr>
        <p:blipFill>
          <a:blip r:embed="rId4"/>
          <a:stretch>
            <a:fillRect/>
          </a:stretch>
        </p:blipFill>
        <p:spPr>
          <a:xfrm>
            <a:off x="4108399" y="3148279"/>
            <a:ext cx="241402" cy="241402"/>
          </a:xfrm>
          <a:prstGeom prst="rect">
            <a:avLst/>
          </a:prstGeom>
        </p:spPr>
      </p:pic>
      <p:sp>
        <p:nvSpPr>
          <p:cNvPr id="18" name="Text 12"/>
          <p:cNvSpPr txBox="1"/>
          <p:nvPr/>
        </p:nvSpPr>
        <p:spPr>
          <a:xfrm>
            <a:off x="4663440" y="2990088"/>
            <a:ext cx="2560320" cy="32004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Jobs &amp; bid packages</a:t>
            </a:r>
            <a:endParaRPr lang="en-US" sz="1500" dirty="0"/>
          </a:p>
        </p:txBody>
      </p:sp>
      <p:sp>
        <p:nvSpPr>
          <p:cNvPr id="19" name="Text 13"/>
          <p:cNvSpPr txBox="1"/>
          <p:nvPr/>
        </p:nvSpPr>
        <p:spPr>
          <a:xfrm>
            <a:off x="4663440" y="3319272"/>
            <a:ext cx="2560320" cy="731520"/>
          </a:xfrm>
          <a:prstGeom prst="rect">
            <a:avLst/>
          </a:prstGeom>
          <a:noFill/>
          <a:ln/>
        </p:spPr>
        <p:txBody>
          <a:bodyPr wrap="square" lIns="0" tIns="0" rIns="0" bIns="0" rtlCol="0" anchor="t"/>
          <a:lstStyle/>
          <a:p>
            <a:pPr indent="0" marL="0">
              <a:buNone/>
            </a:pPr>
            <a:r>
              <a:rPr lang="en-US" sz="1300" dirty="0">
                <a:solidFill>
                  <a:srgbClr val="3D4752"/>
                </a:solidFill>
                <a:latin typeface="Calibri" pitchFamily="34" charset="0"/>
                <a:ea typeface="Calibri" pitchFamily="34" charset="-122"/>
                <a:cs typeface="Calibri" pitchFamily="34" charset="-120"/>
              </a:rPr>
              <a:t>Openings and packages posted and kept current.</a:t>
            </a:r>
            <a:endParaRPr lang="en-US" sz="1300" dirty="0"/>
          </a:p>
        </p:txBody>
      </p:sp>
      <p:sp>
        <p:nvSpPr>
          <p:cNvPr id="20" name="Shape 14"/>
          <p:cNvSpPr/>
          <p:nvPr/>
        </p:nvSpPr>
        <p:spPr>
          <a:xfrm>
            <a:off x="548640" y="4251960"/>
            <a:ext cx="502920" cy="502920"/>
          </a:xfrm>
          <a:prstGeom prst="ellipse">
            <a:avLst/>
          </a:prstGeom>
          <a:solidFill>
            <a:srgbClr val="F7C92D"/>
          </a:solidFill>
          <a:ln w="12700">
            <a:solidFill>
              <a:srgbClr val="F7C92D"/>
            </a:solidFill>
            <a:prstDash val="solid"/>
          </a:ln>
        </p:spPr>
      </p:sp>
      <p:pic>
        <p:nvPicPr>
          <p:cNvPr id="21" name="Image 4" descr="preencoded.png">    </p:cNvPr>
          <p:cNvPicPr>
            <a:picLocks noChangeAspect="1"/>
          </p:cNvPicPr>
          <p:nvPr/>
        </p:nvPicPr>
        <p:blipFill>
          <a:blip r:embed="rId5"/>
          <a:stretch>
            <a:fillRect/>
          </a:stretch>
        </p:blipFill>
        <p:spPr>
          <a:xfrm>
            <a:off x="679399" y="4382719"/>
            <a:ext cx="241402" cy="241402"/>
          </a:xfrm>
          <a:prstGeom prst="rect">
            <a:avLst/>
          </a:prstGeom>
        </p:spPr>
      </p:pic>
      <p:sp>
        <p:nvSpPr>
          <p:cNvPr id="22" name="Text 15"/>
          <p:cNvSpPr txBox="1"/>
          <p:nvPr/>
        </p:nvSpPr>
        <p:spPr>
          <a:xfrm>
            <a:off x="1234440" y="4224528"/>
            <a:ext cx="2560320" cy="32004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Local listings</a:t>
            </a:r>
            <a:endParaRPr lang="en-US" sz="1500" dirty="0"/>
          </a:p>
        </p:txBody>
      </p:sp>
      <p:sp>
        <p:nvSpPr>
          <p:cNvPr id="23" name="Text 16"/>
          <p:cNvSpPr txBox="1"/>
          <p:nvPr/>
        </p:nvSpPr>
        <p:spPr>
          <a:xfrm>
            <a:off x="1234440" y="4553712"/>
            <a:ext cx="2560320" cy="731520"/>
          </a:xfrm>
          <a:prstGeom prst="rect">
            <a:avLst/>
          </a:prstGeom>
          <a:noFill/>
          <a:ln/>
        </p:spPr>
        <p:txBody>
          <a:bodyPr wrap="square" lIns="0" tIns="0" rIns="0" bIns="0" rtlCol="0" anchor="t"/>
          <a:lstStyle/>
          <a:p>
            <a:pPr indent="0" marL="0">
              <a:buNone/>
            </a:pPr>
            <a:r>
              <a:rPr lang="en-US" sz="1300" dirty="0">
                <a:solidFill>
                  <a:srgbClr val="3D4752"/>
                </a:solidFill>
                <a:latin typeface="Calibri" pitchFamily="34" charset="0"/>
                <a:ea typeface="Calibri" pitchFamily="34" charset="-122"/>
                <a:cs typeface="Calibri" pitchFamily="34" charset="-120"/>
              </a:rPr>
              <a:t>Consistent name, address, and phone everywhere.</a:t>
            </a:r>
            <a:endParaRPr lang="en-US" sz="1300" dirty="0"/>
          </a:p>
        </p:txBody>
      </p:sp>
      <p:sp>
        <p:nvSpPr>
          <p:cNvPr id="24" name="Shape 17"/>
          <p:cNvSpPr/>
          <p:nvPr/>
        </p:nvSpPr>
        <p:spPr>
          <a:xfrm>
            <a:off x="3977640" y="4251960"/>
            <a:ext cx="502920" cy="502920"/>
          </a:xfrm>
          <a:prstGeom prst="ellipse">
            <a:avLst/>
          </a:prstGeom>
          <a:solidFill>
            <a:srgbClr val="F7C92D"/>
          </a:solidFill>
          <a:ln w="12700">
            <a:solidFill>
              <a:srgbClr val="F7C92D"/>
            </a:solidFill>
            <a:prstDash val="solid"/>
          </a:ln>
        </p:spPr>
      </p:sp>
      <p:pic>
        <p:nvPicPr>
          <p:cNvPr id="25" name="Image 5" descr="preencoded.png">    </p:cNvPr>
          <p:cNvPicPr>
            <a:picLocks noChangeAspect="1"/>
          </p:cNvPicPr>
          <p:nvPr/>
        </p:nvPicPr>
        <p:blipFill>
          <a:blip r:embed="rId6"/>
          <a:stretch>
            <a:fillRect/>
          </a:stretch>
        </p:blipFill>
        <p:spPr>
          <a:xfrm>
            <a:off x="4108399" y="4382719"/>
            <a:ext cx="241402" cy="241402"/>
          </a:xfrm>
          <a:prstGeom prst="rect">
            <a:avLst/>
          </a:prstGeom>
        </p:spPr>
      </p:pic>
      <p:sp>
        <p:nvSpPr>
          <p:cNvPr id="26" name="Text 18"/>
          <p:cNvSpPr txBox="1"/>
          <p:nvPr/>
        </p:nvSpPr>
        <p:spPr>
          <a:xfrm>
            <a:off x="4663440" y="4224528"/>
            <a:ext cx="2560320" cy="320040"/>
          </a:xfrm>
          <a:prstGeom prst="rect">
            <a:avLst/>
          </a:prstGeom>
          <a:noFill/>
          <a:ln/>
        </p:spPr>
        <p:txBody>
          <a:bodyPr wrap="square" lIns="0" tIns="0" rIns="0" bIns="0" rtlCol="0" anchor="ctr"/>
          <a:lstStyle/>
          <a:p>
            <a:pPr indent="0" marL="0">
              <a:buNone/>
            </a:pPr>
            <a:r>
              <a:rPr lang="en-US" sz="1500" b="1" dirty="0">
                <a:solidFill>
                  <a:srgbClr val="1F2933"/>
                </a:solidFill>
                <a:latin typeface="Arial" pitchFamily="34" charset="0"/>
                <a:ea typeface="Arial" pitchFamily="34" charset="-122"/>
                <a:cs typeface="Arial" pitchFamily="34" charset="-120"/>
              </a:rPr>
              <a:t>AI answer monitoring</a:t>
            </a:r>
            <a:endParaRPr lang="en-US" sz="1500" dirty="0"/>
          </a:p>
        </p:txBody>
      </p:sp>
      <p:sp>
        <p:nvSpPr>
          <p:cNvPr id="27" name="Text 19"/>
          <p:cNvSpPr txBox="1"/>
          <p:nvPr/>
        </p:nvSpPr>
        <p:spPr>
          <a:xfrm>
            <a:off x="4663440" y="4553712"/>
            <a:ext cx="2560320" cy="731520"/>
          </a:xfrm>
          <a:prstGeom prst="rect">
            <a:avLst/>
          </a:prstGeom>
          <a:noFill/>
          <a:ln/>
        </p:spPr>
        <p:txBody>
          <a:bodyPr wrap="square" lIns="0" tIns="0" rIns="0" bIns="0" rtlCol="0" anchor="t"/>
          <a:lstStyle/>
          <a:p>
            <a:pPr indent="0" marL="0">
              <a:buNone/>
            </a:pPr>
            <a:r>
              <a:rPr lang="en-US" sz="1300" dirty="0">
                <a:solidFill>
                  <a:srgbClr val="3D4752"/>
                </a:solidFill>
                <a:latin typeface="Calibri" pitchFamily="34" charset="0"/>
                <a:ea typeface="Calibri" pitchFamily="34" charset="-122"/>
                <a:cs typeface="Calibri" pitchFamily="34" charset="-120"/>
              </a:rPr>
              <a:t>Checking what AI assistants say about Pamar, and fixing gaps.</a:t>
            </a:r>
            <a:endParaRPr lang="en-US" sz="1300" dirty="0"/>
          </a:p>
        </p:txBody>
      </p:sp>
      <p:sp>
        <p:nvSpPr>
          <p:cNvPr id="28" name="Shape 20"/>
          <p:cNvSpPr/>
          <p:nvPr/>
        </p:nvSpPr>
        <p:spPr>
          <a:xfrm>
            <a:off x="7635240" y="1691640"/>
            <a:ext cx="4007815" cy="3246120"/>
          </a:xfrm>
          <a:prstGeom prst="roundRect">
            <a:avLst>
              <a:gd name="adj" fmla="val 3380"/>
            </a:avLst>
          </a:prstGeom>
          <a:solidFill>
            <a:srgbClr val="171C22"/>
          </a:solidFill>
          <a:ln w="12700">
            <a:solidFill>
              <a:srgbClr val="171C22"/>
            </a:solidFill>
            <a:prstDash val="solid"/>
          </a:ln>
        </p:spPr>
      </p:sp>
      <p:sp>
        <p:nvSpPr>
          <p:cNvPr id="29" name="Text 21"/>
          <p:cNvSpPr txBox="1"/>
          <p:nvPr/>
        </p:nvSpPr>
        <p:spPr>
          <a:xfrm>
            <a:off x="7955280" y="1920240"/>
            <a:ext cx="3367735"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Reported monthly</a:t>
            </a:r>
            <a:endParaRPr lang="en-US" sz="1800" dirty="0"/>
          </a:p>
        </p:txBody>
      </p:sp>
      <p:sp>
        <p:nvSpPr>
          <p:cNvPr id="30" name="Text 22"/>
          <p:cNvSpPr txBox="1"/>
          <p:nvPr/>
        </p:nvSpPr>
        <p:spPr>
          <a:xfrm>
            <a:off x="7955280" y="2468880"/>
            <a:ext cx="3459175" cy="29260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Calls and contact-form leads</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Job applications</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Subcontractor registrations and bids</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Search rankings and visibility</a:t>
            </a:r>
            <a:endParaRPr lang="en-US" sz="1500" dirty="0"/>
          </a:p>
          <a:p>
            <a:pPr marL="342900" indent="-342900">
              <a:spcAft>
                <a:spcPts val="900"/>
              </a:spcAft>
              <a:buSzPct val="100000"/>
              <a:buChar char="•"/>
            </a:pPr>
            <a:r>
              <a:rPr lang="en-US" sz="1500" dirty="0">
                <a:solidFill>
                  <a:srgbClr val="FFFFFF"/>
                </a:solidFill>
                <a:latin typeface="Calibri" pitchFamily="34" charset="0"/>
                <a:ea typeface="Calibri" pitchFamily="34" charset="-122"/>
                <a:cs typeface="Calibri" pitchFamily="34" charset="-120"/>
              </a:rPr>
              <a:t>Mentions in AI answers</a:t>
            </a:r>
            <a:endParaRPr lang="en-US" sz="1500" dirty="0"/>
          </a:p>
        </p:txBody>
      </p:sp>
      <p:sp>
        <p:nvSpPr>
          <p:cNvPr id="31" name="Text 23"/>
          <p:cNvSpPr txBox="1"/>
          <p:nvPr/>
        </p:nvSpPr>
        <p:spPr>
          <a:xfrm>
            <a:off x="548640" y="5760720"/>
            <a:ext cx="11094415" cy="502920"/>
          </a:xfrm>
          <a:prstGeom prst="rect">
            <a:avLst/>
          </a:prstGeom>
          <a:noFill/>
          <a:ln/>
        </p:spPr>
        <p:txBody>
          <a:bodyPr wrap="square" lIns="0" tIns="0" rIns="0" bIns="0" rtlCol="0" anchor="t"/>
          <a:lstStyle/>
          <a:p>
            <a:pPr indent="0" marL="0">
              <a:buNone/>
            </a:pPr>
            <a:r>
              <a:rPr lang="en-US" sz="1200" i="1" dirty="0">
                <a:solidFill>
                  <a:srgbClr val="6B7580"/>
                </a:solidFill>
                <a:latin typeface="Calibri" pitchFamily="34" charset="0"/>
                <a:ea typeface="Calibri" pitchFamily="34" charset="-122"/>
                <a:cs typeface="Calibri" pitchFamily="34" charset="-120"/>
              </a:rPr>
              <a:t>Search and AI visibility build over months. No one can guarantee rankings or citations; we make Pamar the clearest, most credible answer and track the results.</a:t>
            </a:r>
            <a:endParaRPr lang="en-US" sz="1200" dirty="0"/>
          </a:p>
        </p:txBody>
      </p:sp>
      <p:sp>
        <p:nvSpPr>
          <p:cNvPr id="32" name="Text 24"/>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33" name="Text 25"/>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1C2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F7C92D"/>
                </a:solidFill>
                <a:latin typeface="Arial" pitchFamily="34" charset="0"/>
                <a:ea typeface="Arial" pitchFamily="34" charset="-122"/>
                <a:cs typeface="Arial" pitchFamily="34" charset="-120"/>
              </a:rPr>
              <a:t>A HEAD START</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This isn’t a mockup. It’s already working.</a:t>
            </a:r>
            <a:endParaRPr lang="en-US" sz="3400" dirty="0"/>
          </a:p>
        </p:txBody>
      </p:sp>
      <p:sp>
        <p:nvSpPr>
          <p:cNvPr id="4" name="Text 2"/>
          <p:cNvSpPr txBox="1"/>
          <p:nvPr/>
        </p:nvSpPr>
        <p:spPr>
          <a:xfrm>
            <a:off x="548640" y="2011680"/>
            <a:ext cx="1645920" cy="914400"/>
          </a:xfrm>
          <a:prstGeom prst="rect">
            <a:avLst/>
          </a:prstGeom>
          <a:noFill/>
          <a:ln/>
        </p:spPr>
        <p:txBody>
          <a:bodyPr wrap="square" lIns="0" tIns="0" rIns="0" bIns="0" rtlCol="0" anchor="ctr"/>
          <a:lstStyle/>
          <a:p>
            <a:pPr indent="0" marL="0">
              <a:buNone/>
            </a:pPr>
            <a:r>
              <a:rPr lang="en-US" sz="5400" b="1" dirty="0">
                <a:solidFill>
                  <a:srgbClr val="F7C92D"/>
                </a:solidFill>
                <a:latin typeface="Arial" pitchFamily="34" charset="0"/>
                <a:ea typeface="Arial" pitchFamily="34" charset="-122"/>
                <a:cs typeface="Arial" pitchFamily="34" charset="-120"/>
              </a:rPr>
              <a:t>6</a:t>
            </a:r>
            <a:endParaRPr lang="en-US" sz="5400" dirty="0"/>
          </a:p>
        </p:txBody>
      </p:sp>
      <p:sp>
        <p:nvSpPr>
          <p:cNvPr id="5" name="Text 3"/>
          <p:cNvSpPr txBox="1"/>
          <p:nvPr/>
        </p:nvSpPr>
        <p:spPr>
          <a:xfrm>
            <a:off x="548640" y="2926080"/>
            <a:ext cx="1554480" cy="640080"/>
          </a:xfrm>
          <a:prstGeom prst="rect">
            <a:avLst/>
          </a:prstGeom>
          <a:noFill/>
          <a:ln/>
        </p:spPr>
        <p:txBody>
          <a:bodyPr wrap="square" lIns="0" tIns="0" rIns="0" bIns="0" rtlCol="0" anchor="t"/>
          <a:lstStyle/>
          <a:p>
            <a:pPr indent="0" marL="0">
              <a:buNone/>
            </a:pPr>
            <a:r>
              <a:rPr lang="en-US" sz="1400" dirty="0">
                <a:solidFill>
                  <a:srgbClr val="C9CED4"/>
                </a:solidFill>
                <a:latin typeface="Calibri" pitchFamily="34" charset="0"/>
                <a:ea typeface="Calibri" pitchFamily="34" charset="-122"/>
                <a:cs typeface="Calibri" pitchFamily="34" charset="-120"/>
              </a:rPr>
              <a:t>real Pamar projects</a:t>
            </a:r>
            <a:endParaRPr lang="en-US" sz="1400" dirty="0"/>
          </a:p>
        </p:txBody>
      </p:sp>
      <p:sp>
        <p:nvSpPr>
          <p:cNvPr id="6" name="Text 4"/>
          <p:cNvSpPr txBox="1"/>
          <p:nvPr/>
        </p:nvSpPr>
        <p:spPr>
          <a:xfrm>
            <a:off x="2331720" y="2011680"/>
            <a:ext cx="1645920" cy="914400"/>
          </a:xfrm>
          <a:prstGeom prst="rect">
            <a:avLst/>
          </a:prstGeom>
          <a:noFill/>
          <a:ln/>
        </p:spPr>
        <p:txBody>
          <a:bodyPr wrap="square" lIns="0" tIns="0" rIns="0" bIns="0" rtlCol="0" anchor="ctr"/>
          <a:lstStyle/>
          <a:p>
            <a:pPr indent="0" marL="0">
              <a:buNone/>
            </a:pPr>
            <a:r>
              <a:rPr lang="en-US" sz="5400" b="1" dirty="0">
                <a:solidFill>
                  <a:srgbClr val="F7C92D"/>
                </a:solidFill>
                <a:latin typeface="Arial" pitchFamily="34" charset="0"/>
                <a:ea typeface="Arial" pitchFamily="34" charset="-122"/>
                <a:cs typeface="Arial" pitchFamily="34" charset="-120"/>
              </a:rPr>
              <a:t>37</a:t>
            </a:r>
            <a:endParaRPr lang="en-US" sz="5400" dirty="0"/>
          </a:p>
        </p:txBody>
      </p:sp>
      <p:sp>
        <p:nvSpPr>
          <p:cNvPr id="7" name="Text 5"/>
          <p:cNvSpPr txBox="1"/>
          <p:nvPr/>
        </p:nvSpPr>
        <p:spPr>
          <a:xfrm>
            <a:off x="2331720" y="2926080"/>
            <a:ext cx="1554480" cy="640080"/>
          </a:xfrm>
          <a:prstGeom prst="rect">
            <a:avLst/>
          </a:prstGeom>
          <a:noFill/>
          <a:ln/>
        </p:spPr>
        <p:txBody>
          <a:bodyPr wrap="square" lIns="0" tIns="0" rIns="0" bIns="0" rtlCol="0" anchor="t"/>
          <a:lstStyle/>
          <a:p>
            <a:pPr indent="0" marL="0">
              <a:buNone/>
            </a:pPr>
            <a:r>
              <a:rPr lang="en-US" sz="1400" dirty="0">
                <a:solidFill>
                  <a:srgbClr val="C9CED4"/>
                </a:solidFill>
                <a:latin typeface="Calibri" pitchFamily="34" charset="0"/>
                <a:ea typeface="Calibri" pitchFamily="34" charset="-122"/>
                <a:cs typeface="Calibri" pitchFamily="34" charset="-120"/>
              </a:rPr>
              <a:t>pages live in the preview</a:t>
            </a:r>
            <a:endParaRPr lang="en-US" sz="1400" dirty="0"/>
          </a:p>
        </p:txBody>
      </p:sp>
      <p:sp>
        <p:nvSpPr>
          <p:cNvPr id="8" name="Text 6"/>
          <p:cNvSpPr txBox="1"/>
          <p:nvPr/>
        </p:nvSpPr>
        <p:spPr>
          <a:xfrm>
            <a:off x="4114800" y="2011680"/>
            <a:ext cx="1645920" cy="914400"/>
          </a:xfrm>
          <a:prstGeom prst="rect">
            <a:avLst/>
          </a:prstGeom>
          <a:noFill/>
          <a:ln/>
        </p:spPr>
        <p:txBody>
          <a:bodyPr wrap="square" lIns="0" tIns="0" rIns="0" bIns="0" rtlCol="0" anchor="ctr"/>
          <a:lstStyle/>
          <a:p>
            <a:pPr indent="0" marL="0">
              <a:buNone/>
            </a:pPr>
            <a:r>
              <a:rPr lang="en-US" sz="5400" b="1" dirty="0">
                <a:solidFill>
                  <a:srgbClr val="F7C92D"/>
                </a:solidFill>
                <a:latin typeface="Arial" pitchFamily="34" charset="0"/>
                <a:ea typeface="Arial" pitchFamily="34" charset="-122"/>
                <a:cs typeface="Arial" pitchFamily="34" charset="-120"/>
              </a:rPr>
              <a:t>4</a:t>
            </a:r>
            <a:endParaRPr lang="en-US" sz="5400" dirty="0"/>
          </a:p>
        </p:txBody>
      </p:sp>
      <p:sp>
        <p:nvSpPr>
          <p:cNvPr id="9" name="Text 7"/>
          <p:cNvSpPr txBox="1"/>
          <p:nvPr/>
        </p:nvSpPr>
        <p:spPr>
          <a:xfrm>
            <a:off x="4114800" y="2926080"/>
            <a:ext cx="1554480" cy="640080"/>
          </a:xfrm>
          <a:prstGeom prst="rect">
            <a:avLst/>
          </a:prstGeom>
          <a:noFill/>
          <a:ln/>
        </p:spPr>
        <p:txBody>
          <a:bodyPr wrap="square" lIns="0" tIns="0" rIns="0" bIns="0" rtlCol="0" anchor="t"/>
          <a:lstStyle/>
          <a:p>
            <a:pPr indent="0" marL="0">
              <a:buNone/>
            </a:pPr>
            <a:r>
              <a:rPr lang="en-US" sz="1400" dirty="0">
                <a:solidFill>
                  <a:srgbClr val="C9CED4"/>
                </a:solidFill>
                <a:latin typeface="Calibri" pitchFamily="34" charset="0"/>
                <a:ea typeface="Calibri" pitchFamily="34" charset="-122"/>
                <a:cs typeface="Calibri" pitchFamily="34" charset="-120"/>
              </a:rPr>
              <a:t>working forms</a:t>
            </a:r>
            <a:endParaRPr lang="en-US" sz="1400" dirty="0"/>
          </a:p>
        </p:txBody>
      </p:sp>
      <p:sp>
        <p:nvSpPr>
          <p:cNvPr id="10" name="Text 8"/>
          <p:cNvSpPr txBox="1"/>
          <p:nvPr/>
        </p:nvSpPr>
        <p:spPr>
          <a:xfrm>
            <a:off x="5897880" y="2011680"/>
            <a:ext cx="1645920" cy="914400"/>
          </a:xfrm>
          <a:prstGeom prst="rect">
            <a:avLst/>
          </a:prstGeom>
          <a:noFill/>
          <a:ln/>
        </p:spPr>
        <p:txBody>
          <a:bodyPr wrap="square" lIns="0" tIns="0" rIns="0" bIns="0" rtlCol="0" anchor="ctr"/>
          <a:lstStyle/>
          <a:p>
            <a:pPr indent="0" marL="0">
              <a:buNone/>
            </a:pPr>
            <a:r>
              <a:rPr lang="en-US" sz="5400" b="1" dirty="0">
                <a:solidFill>
                  <a:srgbClr val="F7C92D"/>
                </a:solidFill>
                <a:latin typeface="Arial" pitchFamily="34" charset="0"/>
                <a:ea typeface="Arial" pitchFamily="34" charset="-122"/>
                <a:cs typeface="Arial" pitchFamily="34" charset="-120"/>
              </a:rPr>
              <a:t>106</a:t>
            </a:r>
            <a:endParaRPr lang="en-US" sz="5400" dirty="0"/>
          </a:p>
        </p:txBody>
      </p:sp>
      <p:sp>
        <p:nvSpPr>
          <p:cNvPr id="11" name="Text 9"/>
          <p:cNvSpPr txBox="1"/>
          <p:nvPr/>
        </p:nvSpPr>
        <p:spPr>
          <a:xfrm>
            <a:off x="5897880" y="2926080"/>
            <a:ext cx="1554480" cy="640080"/>
          </a:xfrm>
          <a:prstGeom prst="rect">
            <a:avLst/>
          </a:prstGeom>
          <a:noFill/>
          <a:ln/>
        </p:spPr>
        <p:txBody>
          <a:bodyPr wrap="square" lIns="0" tIns="0" rIns="0" bIns="0" rtlCol="0" anchor="t"/>
          <a:lstStyle/>
          <a:p>
            <a:pPr indent="0" marL="0">
              <a:buNone/>
            </a:pPr>
            <a:r>
              <a:rPr lang="en-US" sz="1400" dirty="0">
                <a:solidFill>
                  <a:srgbClr val="C9CED4"/>
                </a:solidFill>
                <a:latin typeface="Calibri" pitchFamily="34" charset="0"/>
                <a:ea typeface="Calibri" pitchFamily="34" charset="-122"/>
                <a:cs typeface="Calibri" pitchFamily="34" charset="-120"/>
              </a:rPr>
              <a:t>automated tests</a:t>
            </a:r>
            <a:endParaRPr lang="en-US" sz="1400" dirty="0"/>
          </a:p>
        </p:txBody>
      </p:sp>
      <p:sp>
        <p:nvSpPr>
          <p:cNvPr id="12" name="Text 10"/>
          <p:cNvSpPr txBox="1"/>
          <p:nvPr/>
        </p:nvSpPr>
        <p:spPr>
          <a:xfrm>
            <a:off x="548640" y="4023360"/>
            <a:ext cx="6675120" cy="11887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Core pages, the careers funnel, and the bid portal already run end to end, in Pamar’s brand with real projects and company history. The build phases add the CMS, staff tools, and launch.</a:t>
            </a:r>
            <a:endParaRPr lang="en-US" sz="1600" dirty="0"/>
          </a:p>
        </p:txBody>
      </p:sp>
      <p:sp>
        <p:nvSpPr>
          <p:cNvPr id="13" name="Text 11"/>
          <p:cNvSpPr txBox="1"/>
          <p:nvPr/>
        </p:nvSpPr>
        <p:spPr>
          <a:xfrm>
            <a:off x="548640" y="5394960"/>
            <a:ext cx="6858000" cy="320040"/>
          </a:xfrm>
          <a:prstGeom prst="rect">
            <a:avLst/>
          </a:prstGeom>
          <a:noFill/>
          <a:ln/>
        </p:spPr>
        <p:txBody>
          <a:bodyPr wrap="square" lIns="0" tIns="0" rIns="0" bIns="0" rtlCol="0" anchor="ctr"/>
          <a:lstStyle/>
          <a:p>
            <a:pPr indent="0" marL="0">
              <a:buNone/>
            </a:pPr>
            <a:r>
              <a:rPr lang="en-US" sz="1400" i="1" dirty="0">
                <a:solidFill>
                  <a:srgbClr val="F7C92D"/>
                </a:solidFill>
                <a:latin typeface="Calibri" pitchFamily="34" charset="0"/>
                <a:ea typeface="Calibri" pitchFamily="34" charset="-122"/>
                <a:cs typeface="Calibri" pitchFamily="34" charset="-120"/>
              </a:rPr>
              <a:t>Lower risk  ·  Faster launch  ·  Decisions based on something you can click</a:t>
            </a:r>
            <a:endParaRPr lang="en-US" sz="1400" dirty="0"/>
          </a:p>
        </p:txBody>
      </p:sp>
      <p:sp>
        <p:nvSpPr>
          <p:cNvPr id="14" name="Shape 12"/>
          <p:cNvSpPr/>
          <p:nvPr/>
        </p:nvSpPr>
        <p:spPr>
          <a:xfrm>
            <a:off x="8732520" y="1691640"/>
            <a:ext cx="2103120" cy="4444922"/>
          </a:xfrm>
          <a:prstGeom prst="rect">
            <a:avLst/>
          </a:prstGeom>
          <a:solidFill>
            <a:srgbClr val="FFFFFF"/>
          </a:solidFill>
          <a:ln w="9525">
            <a:solidFill>
              <a:srgbClr val="D5D9DE"/>
            </a:solidFill>
            <a:prstDash val="solid"/>
          </a:ln>
          <a:effectLst>
            <a:outerShdw sx="100000" sy="100000" kx="0" ky="0" algn="bl" rotWithShape="0" blurRad="152400" dist="50800" dir="5400000">
              <a:srgbClr val="000000">
                <a:alpha val="18000"/>
              </a:srgbClr>
            </a:outerShdw>
          </a:effectLst>
        </p:spPr>
      </p:sp>
      <p:pic>
        <p:nvPicPr>
          <p:cNvPr id="15" name="Image 0" descr="/tmp/claude-0/-home-user-pamar/b73e6f80-a414-5ae8-90eb-ab78d9502716/scratchpad/deck/img/home-mobile.png">    </p:cNvPr>
          <p:cNvPicPr>
            <a:picLocks noChangeAspect="1"/>
          </p:cNvPicPr>
          <p:nvPr/>
        </p:nvPicPr>
        <p:blipFill>
          <a:blip r:embed="rId1"/>
          <a:stretch>
            <a:fillRect/>
          </a:stretch>
        </p:blipFill>
        <p:spPr>
          <a:xfrm>
            <a:off x="8778240" y="1737360"/>
            <a:ext cx="2011680" cy="4353482"/>
          </a:xfrm>
          <a:prstGeom prst="rect">
            <a:avLst/>
          </a:prstGeom>
        </p:spPr>
      </p:pic>
      <p:sp>
        <p:nvSpPr>
          <p:cNvPr id="16" name="Text 13"/>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17" name="Text 14"/>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TIMELINE</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Live in about 12 weeks</a:t>
            </a:r>
            <a:endParaRPr lang="en-US" sz="3400" dirty="0"/>
          </a:p>
        </p:txBody>
      </p:sp>
      <p:sp>
        <p:nvSpPr>
          <p:cNvPr id="4" name="Text 2"/>
          <p:cNvSpPr txBox="1"/>
          <p:nvPr/>
        </p:nvSpPr>
        <p:spPr>
          <a:xfrm>
            <a:off x="3566160"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W1</a:t>
            </a:r>
            <a:endParaRPr lang="en-US" sz="1100" dirty="0"/>
          </a:p>
        </p:txBody>
      </p:sp>
      <p:sp>
        <p:nvSpPr>
          <p:cNvPr id="5" name="Shape 3"/>
          <p:cNvSpPr/>
          <p:nvPr/>
        </p:nvSpPr>
        <p:spPr>
          <a:xfrm>
            <a:off x="3566160" y="1874520"/>
            <a:ext cx="673075" cy="3072384"/>
          </a:xfrm>
          <a:prstGeom prst="rect">
            <a:avLst/>
          </a:prstGeom>
          <a:solidFill>
            <a:srgbClr val="F3F4F6"/>
          </a:solidFill>
          <a:ln w="12700">
            <a:solidFill>
              <a:srgbClr val="F3F4F6"/>
            </a:solidFill>
            <a:prstDash val="solid"/>
          </a:ln>
        </p:spPr>
      </p:sp>
      <p:sp>
        <p:nvSpPr>
          <p:cNvPr id="6" name="Text 4"/>
          <p:cNvSpPr txBox="1"/>
          <p:nvPr/>
        </p:nvSpPr>
        <p:spPr>
          <a:xfrm>
            <a:off x="4239235"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W2</a:t>
            </a:r>
            <a:endParaRPr lang="en-US" sz="1100" dirty="0"/>
          </a:p>
        </p:txBody>
      </p:sp>
      <p:sp>
        <p:nvSpPr>
          <p:cNvPr id="7" name="Text 5"/>
          <p:cNvSpPr txBox="1"/>
          <p:nvPr/>
        </p:nvSpPr>
        <p:spPr>
          <a:xfrm>
            <a:off x="4912309"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W3</a:t>
            </a:r>
            <a:endParaRPr lang="en-US" sz="1100" dirty="0"/>
          </a:p>
        </p:txBody>
      </p:sp>
      <p:sp>
        <p:nvSpPr>
          <p:cNvPr id="8" name="Shape 6"/>
          <p:cNvSpPr/>
          <p:nvPr/>
        </p:nvSpPr>
        <p:spPr>
          <a:xfrm>
            <a:off x="4912309" y="1874520"/>
            <a:ext cx="673075" cy="3072384"/>
          </a:xfrm>
          <a:prstGeom prst="rect">
            <a:avLst/>
          </a:prstGeom>
          <a:solidFill>
            <a:srgbClr val="F3F4F6"/>
          </a:solidFill>
          <a:ln w="12700">
            <a:solidFill>
              <a:srgbClr val="F3F4F6"/>
            </a:solidFill>
            <a:prstDash val="solid"/>
          </a:ln>
        </p:spPr>
      </p:sp>
      <p:sp>
        <p:nvSpPr>
          <p:cNvPr id="9" name="Text 7"/>
          <p:cNvSpPr txBox="1"/>
          <p:nvPr/>
        </p:nvSpPr>
        <p:spPr>
          <a:xfrm>
            <a:off x="5585384"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W4</a:t>
            </a:r>
            <a:endParaRPr lang="en-US" sz="1100" dirty="0"/>
          </a:p>
        </p:txBody>
      </p:sp>
      <p:sp>
        <p:nvSpPr>
          <p:cNvPr id="10" name="Text 8"/>
          <p:cNvSpPr txBox="1"/>
          <p:nvPr/>
        </p:nvSpPr>
        <p:spPr>
          <a:xfrm>
            <a:off x="6258458"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W5</a:t>
            </a:r>
            <a:endParaRPr lang="en-US" sz="1100" dirty="0"/>
          </a:p>
        </p:txBody>
      </p:sp>
      <p:sp>
        <p:nvSpPr>
          <p:cNvPr id="11" name="Shape 9"/>
          <p:cNvSpPr/>
          <p:nvPr/>
        </p:nvSpPr>
        <p:spPr>
          <a:xfrm>
            <a:off x="6258458" y="1874520"/>
            <a:ext cx="673075" cy="3072384"/>
          </a:xfrm>
          <a:prstGeom prst="rect">
            <a:avLst/>
          </a:prstGeom>
          <a:solidFill>
            <a:srgbClr val="F3F4F6"/>
          </a:solidFill>
          <a:ln w="12700">
            <a:solidFill>
              <a:srgbClr val="F3F4F6"/>
            </a:solidFill>
            <a:prstDash val="solid"/>
          </a:ln>
        </p:spPr>
      </p:sp>
      <p:sp>
        <p:nvSpPr>
          <p:cNvPr id="12" name="Text 10"/>
          <p:cNvSpPr txBox="1"/>
          <p:nvPr/>
        </p:nvSpPr>
        <p:spPr>
          <a:xfrm>
            <a:off x="6931533"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W6</a:t>
            </a:r>
            <a:endParaRPr lang="en-US" sz="1100" dirty="0"/>
          </a:p>
        </p:txBody>
      </p:sp>
      <p:sp>
        <p:nvSpPr>
          <p:cNvPr id="13" name="Text 11"/>
          <p:cNvSpPr txBox="1"/>
          <p:nvPr/>
        </p:nvSpPr>
        <p:spPr>
          <a:xfrm>
            <a:off x="7604608"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W7</a:t>
            </a:r>
            <a:endParaRPr lang="en-US" sz="1100" dirty="0"/>
          </a:p>
        </p:txBody>
      </p:sp>
      <p:sp>
        <p:nvSpPr>
          <p:cNvPr id="14" name="Shape 12"/>
          <p:cNvSpPr/>
          <p:nvPr/>
        </p:nvSpPr>
        <p:spPr>
          <a:xfrm>
            <a:off x="7604608" y="1874520"/>
            <a:ext cx="673075" cy="3072384"/>
          </a:xfrm>
          <a:prstGeom prst="rect">
            <a:avLst/>
          </a:prstGeom>
          <a:solidFill>
            <a:srgbClr val="F3F4F6"/>
          </a:solidFill>
          <a:ln w="12700">
            <a:solidFill>
              <a:srgbClr val="F3F4F6"/>
            </a:solidFill>
            <a:prstDash val="solid"/>
          </a:ln>
        </p:spPr>
      </p:sp>
      <p:sp>
        <p:nvSpPr>
          <p:cNvPr id="15" name="Text 13"/>
          <p:cNvSpPr txBox="1"/>
          <p:nvPr/>
        </p:nvSpPr>
        <p:spPr>
          <a:xfrm>
            <a:off x="8277682"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W8</a:t>
            </a:r>
            <a:endParaRPr lang="en-US" sz="1100" dirty="0"/>
          </a:p>
        </p:txBody>
      </p:sp>
      <p:sp>
        <p:nvSpPr>
          <p:cNvPr id="16" name="Text 14"/>
          <p:cNvSpPr txBox="1"/>
          <p:nvPr/>
        </p:nvSpPr>
        <p:spPr>
          <a:xfrm>
            <a:off x="8950757"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W9</a:t>
            </a:r>
            <a:endParaRPr lang="en-US" sz="1100" dirty="0"/>
          </a:p>
        </p:txBody>
      </p:sp>
      <p:sp>
        <p:nvSpPr>
          <p:cNvPr id="17" name="Shape 15"/>
          <p:cNvSpPr/>
          <p:nvPr/>
        </p:nvSpPr>
        <p:spPr>
          <a:xfrm>
            <a:off x="8950757" y="1874520"/>
            <a:ext cx="673075" cy="3072384"/>
          </a:xfrm>
          <a:prstGeom prst="rect">
            <a:avLst/>
          </a:prstGeom>
          <a:solidFill>
            <a:srgbClr val="F3F4F6"/>
          </a:solidFill>
          <a:ln w="12700">
            <a:solidFill>
              <a:srgbClr val="F3F4F6"/>
            </a:solidFill>
            <a:prstDash val="solid"/>
          </a:ln>
        </p:spPr>
      </p:sp>
      <p:sp>
        <p:nvSpPr>
          <p:cNvPr id="18" name="Text 16"/>
          <p:cNvSpPr txBox="1"/>
          <p:nvPr/>
        </p:nvSpPr>
        <p:spPr>
          <a:xfrm>
            <a:off x="9623831"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W10</a:t>
            </a:r>
            <a:endParaRPr lang="en-US" sz="1100" dirty="0"/>
          </a:p>
        </p:txBody>
      </p:sp>
      <p:sp>
        <p:nvSpPr>
          <p:cNvPr id="19" name="Text 17"/>
          <p:cNvSpPr txBox="1"/>
          <p:nvPr/>
        </p:nvSpPr>
        <p:spPr>
          <a:xfrm>
            <a:off x="10296906"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W11</a:t>
            </a:r>
            <a:endParaRPr lang="en-US" sz="1100" dirty="0"/>
          </a:p>
        </p:txBody>
      </p:sp>
      <p:sp>
        <p:nvSpPr>
          <p:cNvPr id="20" name="Shape 18"/>
          <p:cNvSpPr/>
          <p:nvPr/>
        </p:nvSpPr>
        <p:spPr>
          <a:xfrm>
            <a:off x="10296906" y="1874520"/>
            <a:ext cx="673075" cy="3072384"/>
          </a:xfrm>
          <a:prstGeom prst="rect">
            <a:avLst/>
          </a:prstGeom>
          <a:solidFill>
            <a:srgbClr val="F3F4F6"/>
          </a:solidFill>
          <a:ln w="12700">
            <a:solidFill>
              <a:srgbClr val="F3F4F6"/>
            </a:solidFill>
            <a:prstDash val="solid"/>
          </a:ln>
        </p:spPr>
      </p:sp>
      <p:sp>
        <p:nvSpPr>
          <p:cNvPr id="21" name="Text 19"/>
          <p:cNvSpPr txBox="1"/>
          <p:nvPr/>
        </p:nvSpPr>
        <p:spPr>
          <a:xfrm>
            <a:off x="10969981" y="1508760"/>
            <a:ext cx="673075" cy="274320"/>
          </a:xfrm>
          <a:prstGeom prst="rect">
            <a:avLst/>
          </a:prstGeom>
          <a:noFill/>
          <a:ln/>
        </p:spPr>
        <p:txBody>
          <a:bodyPr wrap="square" lIns="0" tIns="0" rIns="0" bIns="0" rtlCol="0" anchor="ctr"/>
          <a:lstStyle/>
          <a:p>
            <a:pPr algn="ctr" indent="0" marL="0">
              <a:buNone/>
            </a:pPr>
            <a:r>
              <a:rPr lang="en-US" sz="1100" dirty="0">
                <a:solidFill>
                  <a:srgbClr val="6B7580"/>
                </a:solidFill>
                <a:latin typeface="Calibri" pitchFamily="34" charset="0"/>
                <a:ea typeface="Calibri" pitchFamily="34" charset="-122"/>
                <a:cs typeface="Calibri" pitchFamily="34" charset="-120"/>
              </a:rPr>
              <a:t>W12</a:t>
            </a:r>
            <a:endParaRPr lang="en-US" sz="1100" dirty="0"/>
          </a:p>
        </p:txBody>
      </p:sp>
      <p:sp>
        <p:nvSpPr>
          <p:cNvPr id="22" name="Text 20"/>
          <p:cNvSpPr txBox="1"/>
          <p:nvPr/>
        </p:nvSpPr>
        <p:spPr>
          <a:xfrm>
            <a:off x="548640" y="1874520"/>
            <a:ext cx="2834640" cy="512064"/>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Discovery &amp; Design</a:t>
            </a:r>
            <a:endParaRPr lang="en-US" sz="1400" dirty="0"/>
          </a:p>
        </p:txBody>
      </p:sp>
      <p:sp>
        <p:nvSpPr>
          <p:cNvPr id="23" name="Shape 21"/>
          <p:cNvSpPr/>
          <p:nvPr/>
        </p:nvSpPr>
        <p:spPr>
          <a:xfrm>
            <a:off x="3566160" y="1993392"/>
            <a:ext cx="2019224" cy="274320"/>
          </a:xfrm>
          <a:prstGeom prst="roundRect">
            <a:avLst>
              <a:gd name="adj" fmla="val 20000"/>
            </a:avLst>
          </a:prstGeom>
          <a:solidFill>
            <a:srgbClr val="3E5C76"/>
          </a:solidFill>
          <a:ln w="12700">
            <a:solidFill>
              <a:srgbClr val="3E5C76"/>
            </a:solidFill>
            <a:prstDash val="solid"/>
          </a:ln>
        </p:spPr>
      </p:sp>
      <p:sp>
        <p:nvSpPr>
          <p:cNvPr id="24" name="Text 22"/>
          <p:cNvSpPr txBox="1"/>
          <p:nvPr/>
        </p:nvSpPr>
        <p:spPr>
          <a:xfrm>
            <a:off x="548640" y="2386584"/>
            <a:ext cx="2834640" cy="512064"/>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Core Site &amp; Showcase</a:t>
            </a:r>
            <a:endParaRPr lang="en-US" sz="1400" dirty="0"/>
          </a:p>
        </p:txBody>
      </p:sp>
      <p:sp>
        <p:nvSpPr>
          <p:cNvPr id="25" name="Shape 23"/>
          <p:cNvSpPr/>
          <p:nvPr/>
        </p:nvSpPr>
        <p:spPr>
          <a:xfrm>
            <a:off x="5248847" y="2505456"/>
            <a:ext cx="1682687" cy="274320"/>
          </a:xfrm>
          <a:prstGeom prst="roundRect">
            <a:avLst>
              <a:gd name="adj" fmla="val 20000"/>
            </a:avLst>
          </a:prstGeom>
          <a:solidFill>
            <a:srgbClr val="3E5C76"/>
          </a:solidFill>
          <a:ln w="12700">
            <a:solidFill>
              <a:srgbClr val="3E5C76"/>
            </a:solidFill>
            <a:prstDash val="solid"/>
          </a:ln>
        </p:spPr>
      </p:sp>
      <p:sp>
        <p:nvSpPr>
          <p:cNvPr id="26" name="Text 24"/>
          <p:cNvSpPr txBox="1"/>
          <p:nvPr/>
        </p:nvSpPr>
        <p:spPr>
          <a:xfrm>
            <a:off x="548640" y="2898648"/>
            <a:ext cx="2834640" cy="512064"/>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Careers Funnel</a:t>
            </a:r>
            <a:endParaRPr lang="en-US" sz="1400" dirty="0"/>
          </a:p>
        </p:txBody>
      </p:sp>
      <p:sp>
        <p:nvSpPr>
          <p:cNvPr id="27" name="Shape 25"/>
          <p:cNvSpPr/>
          <p:nvPr/>
        </p:nvSpPr>
        <p:spPr>
          <a:xfrm>
            <a:off x="6594996" y="3017520"/>
            <a:ext cx="1009612" cy="274320"/>
          </a:xfrm>
          <a:prstGeom prst="roundRect">
            <a:avLst>
              <a:gd name="adj" fmla="val 20000"/>
            </a:avLst>
          </a:prstGeom>
          <a:solidFill>
            <a:srgbClr val="3E5C76"/>
          </a:solidFill>
          <a:ln w="12700">
            <a:solidFill>
              <a:srgbClr val="3E5C76"/>
            </a:solidFill>
            <a:prstDash val="solid"/>
          </a:ln>
        </p:spPr>
      </p:sp>
      <p:sp>
        <p:nvSpPr>
          <p:cNvPr id="28" name="Text 26"/>
          <p:cNvSpPr txBox="1"/>
          <p:nvPr/>
        </p:nvSpPr>
        <p:spPr>
          <a:xfrm>
            <a:off x="548640" y="3410712"/>
            <a:ext cx="2834640" cy="512064"/>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Subcontractor Portal</a:t>
            </a:r>
            <a:endParaRPr lang="en-US" sz="1400" dirty="0"/>
          </a:p>
        </p:txBody>
      </p:sp>
      <p:sp>
        <p:nvSpPr>
          <p:cNvPr id="29" name="Shape 27"/>
          <p:cNvSpPr/>
          <p:nvPr/>
        </p:nvSpPr>
        <p:spPr>
          <a:xfrm>
            <a:off x="7268070" y="3529584"/>
            <a:ext cx="2355761" cy="274320"/>
          </a:xfrm>
          <a:prstGeom prst="roundRect">
            <a:avLst>
              <a:gd name="adj" fmla="val 20000"/>
            </a:avLst>
          </a:prstGeom>
          <a:solidFill>
            <a:srgbClr val="F7C92D"/>
          </a:solidFill>
          <a:ln w="12700">
            <a:solidFill>
              <a:srgbClr val="F7C92D"/>
            </a:solidFill>
            <a:prstDash val="solid"/>
          </a:ln>
        </p:spPr>
      </p:sp>
      <p:sp>
        <p:nvSpPr>
          <p:cNvPr id="30" name="Text 28"/>
          <p:cNvSpPr txBox="1"/>
          <p:nvPr/>
        </p:nvSpPr>
        <p:spPr>
          <a:xfrm>
            <a:off x="548640" y="3922776"/>
            <a:ext cx="2834640" cy="512064"/>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CMS &amp; Staff Admin</a:t>
            </a:r>
            <a:endParaRPr lang="en-US" sz="1400" dirty="0"/>
          </a:p>
        </p:txBody>
      </p:sp>
      <p:sp>
        <p:nvSpPr>
          <p:cNvPr id="31" name="Shape 29"/>
          <p:cNvSpPr/>
          <p:nvPr/>
        </p:nvSpPr>
        <p:spPr>
          <a:xfrm>
            <a:off x="8614220" y="4041648"/>
            <a:ext cx="1682687" cy="274320"/>
          </a:xfrm>
          <a:prstGeom prst="roundRect">
            <a:avLst>
              <a:gd name="adj" fmla="val 20000"/>
            </a:avLst>
          </a:prstGeom>
          <a:solidFill>
            <a:srgbClr val="3E5C76"/>
          </a:solidFill>
          <a:ln w="12700">
            <a:solidFill>
              <a:srgbClr val="3E5C76"/>
            </a:solidFill>
            <a:prstDash val="solid"/>
          </a:ln>
        </p:spPr>
      </p:sp>
      <p:sp>
        <p:nvSpPr>
          <p:cNvPr id="32" name="Text 30"/>
          <p:cNvSpPr txBox="1"/>
          <p:nvPr/>
        </p:nvSpPr>
        <p:spPr>
          <a:xfrm>
            <a:off x="548640" y="4434840"/>
            <a:ext cx="2834640" cy="512064"/>
          </a:xfrm>
          <a:prstGeom prst="rect">
            <a:avLst/>
          </a:prstGeom>
          <a:noFill/>
          <a:ln/>
        </p:spPr>
        <p:txBody>
          <a:bodyPr wrap="square" lIns="0" tIns="0" rIns="0" bIns="0" rtlCol="0" anchor="ctr"/>
          <a:lstStyle/>
          <a:p>
            <a:pPr indent="0" marL="0">
              <a:buNone/>
            </a:pPr>
            <a:r>
              <a:rPr lang="en-US" sz="1400" b="1" dirty="0">
                <a:solidFill>
                  <a:srgbClr val="1F2933"/>
                </a:solidFill>
                <a:latin typeface="Arial" pitchFamily="34" charset="0"/>
                <a:ea typeface="Arial" pitchFamily="34" charset="-122"/>
                <a:cs typeface="Arial" pitchFamily="34" charset="-120"/>
              </a:rPr>
              <a:t>SEO, Content &amp; Launch</a:t>
            </a:r>
            <a:endParaRPr lang="en-US" sz="1400" dirty="0"/>
          </a:p>
        </p:txBody>
      </p:sp>
      <p:sp>
        <p:nvSpPr>
          <p:cNvPr id="33" name="Shape 31"/>
          <p:cNvSpPr/>
          <p:nvPr/>
        </p:nvSpPr>
        <p:spPr>
          <a:xfrm>
            <a:off x="9960369" y="4553712"/>
            <a:ext cx="1682687" cy="274320"/>
          </a:xfrm>
          <a:prstGeom prst="roundRect">
            <a:avLst>
              <a:gd name="adj" fmla="val 20000"/>
            </a:avLst>
          </a:prstGeom>
          <a:solidFill>
            <a:srgbClr val="3E5C76"/>
          </a:solidFill>
          <a:ln w="12700">
            <a:solidFill>
              <a:srgbClr val="3E5C76"/>
            </a:solidFill>
            <a:prstDash val="solid"/>
          </a:ln>
        </p:spPr>
      </p:sp>
      <p:sp>
        <p:nvSpPr>
          <p:cNvPr id="34" name="Shape 32"/>
          <p:cNvSpPr/>
          <p:nvPr/>
        </p:nvSpPr>
        <p:spPr>
          <a:xfrm>
            <a:off x="5457368" y="5129784"/>
            <a:ext cx="256032" cy="256032"/>
          </a:xfrm>
          <a:prstGeom prst="diamond">
            <a:avLst/>
          </a:prstGeom>
          <a:solidFill>
            <a:srgbClr val="171C22"/>
          </a:solidFill>
          <a:ln w="12700">
            <a:solidFill>
              <a:srgbClr val="171C22"/>
            </a:solidFill>
            <a:prstDash val="solid"/>
          </a:ln>
        </p:spPr>
      </p:sp>
      <p:sp>
        <p:nvSpPr>
          <p:cNvPr id="35" name="Text 33"/>
          <p:cNvSpPr txBox="1"/>
          <p:nvPr/>
        </p:nvSpPr>
        <p:spPr>
          <a:xfrm>
            <a:off x="4670984" y="5449824"/>
            <a:ext cx="1828800" cy="274320"/>
          </a:xfrm>
          <a:prstGeom prst="rect">
            <a:avLst/>
          </a:prstGeom>
          <a:noFill/>
          <a:ln/>
        </p:spPr>
        <p:txBody>
          <a:bodyPr wrap="square" lIns="0" tIns="0" rIns="0" bIns="0" rtlCol="0" anchor="ctr"/>
          <a:lstStyle/>
          <a:p>
            <a:pPr algn="ctr" indent="0" marL="0">
              <a:buNone/>
            </a:pPr>
            <a:r>
              <a:rPr lang="en-US" sz="1200" b="1" dirty="0">
                <a:solidFill>
                  <a:srgbClr val="1F2933"/>
                </a:solidFill>
                <a:latin typeface="Calibri" pitchFamily="34" charset="0"/>
                <a:ea typeface="Calibri" pitchFamily="34" charset="-122"/>
                <a:cs typeface="Calibri" pitchFamily="34" charset="-120"/>
              </a:rPr>
              <a:t>Design approved</a:t>
            </a:r>
            <a:endParaRPr lang="en-US" sz="1200" dirty="0"/>
          </a:p>
        </p:txBody>
      </p:sp>
      <p:sp>
        <p:nvSpPr>
          <p:cNvPr id="36" name="Shape 34"/>
          <p:cNvSpPr/>
          <p:nvPr/>
        </p:nvSpPr>
        <p:spPr>
          <a:xfrm>
            <a:off x="10168890" y="5129784"/>
            <a:ext cx="256032" cy="256032"/>
          </a:xfrm>
          <a:prstGeom prst="diamond">
            <a:avLst/>
          </a:prstGeom>
          <a:solidFill>
            <a:srgbClr val="171C22"/>
          </a:solidFill>
          <a:ln w="12700">
            <a:solidFill>
              <a:srgbClr val="171C22"/>
            </a:solidFill>
            <a:prstDash val="solid"/>
          </a:ln>
        </p:spPr>
      </p:sp>
      <p:sp>
        <p:nvSpPr>
          <p:cNvPr id="37" name="Text 35"/>
          <p:cNvSpPr txBox="1"/>
          <p:nvPr/>
        </p:nvSpPr>
        <p:spPr>
          <a:xfrm>
            <a:off x="8596122" y="5449824"/>
            <a:ext cx="1828800" cy="274320"/>
          </a:xfrm>
          <a:prstGeom prst="rect">
            <a:avLst/>
          </a:prstGeom>
          <a:noFill/>
          <a:ln/>
        </p:spPr>
        <p:txBody>
          <a:bodyPr wrap="square" lIns="0" tIns="0" rIns="0" bIns="0" rtlCol="0" anchor="ctr"/>
          <a:lstStyle/>
          <a:p>
            <a:pPr algn="r" indent="0" marL="0">
              <a:buNone/>
            </a:pPr>
            <a:r>
              <a:rPr lang="en-US" sz="1200" b="1" dirty="0">
                <a:solidFill>
                  <a:srgbClr val="1F2933"/>
                </a:solidFill>
                <a:latin typeface="Calibri" pitchFamily="34" charset="0"/>
                <a:ea typeface="Calibri" pitchFamily="34" charset="-122"/>
                <a:cs typeface="Calibri" pitchFamily="34" charset="-120"/>
              </a:rPr>
              <a:t>Staging review</a:t>
            </a:r>
            <a:endParaRPr lang="en-US" sz="1200" dirty="0"/>
          </a:p>
        </p:txBody>
      </p:sp>
      <p:sp>
        <p:nvSpPr>
          <p:cNvPr id="38" name="Shape 36"/>
          <p:cNvSpPr/>
          <p:nvPr/>
        </p:nvSpPr>
        <p:spPr>
          <a:xfrm>
            <a:off x="11515039" y="5129784"/>
            <a:ext cx="256032" cy="256032"/>
          </a:xfrm>
          <a:prstGeom prst="diamond">
            <a:avLst/>
          </a:prstGeom>
          <a:solidFill>
            <a:srgbClr val="171C22"/>
          </a:solidFill>
          <a:ln w="12700">
            <a:solidFill>
              <a:srgbClr val="171C22"/>
            </a:solidFill>
            <a:prstDash val="solid"/>
          </a:ln>
        </p:spPr>
      </p:sp>
      <p:sp>
        <p:nvSpPr>
          <p:cNvPr id="39" name="Text 37"/>
          <p:cNvSpPr txBox="1"/>
          <p:nvPr/>
        </p:nvSpPr>
        <p:spPr>
          <a:xfrm>
            <a:off x="9814255" y="5449824"/>
            <a:ext cx="1828800" cy="274320"/>
          </a:xfrm>
          <a:prstGeom prst="rect">
            <a:avLst/>
          </a:prstGeom>
          <a:noFill/>
          <a:ln/>
        </p:spPr>
        <p:txBody>
          <a:bodyPr wrap="square" lIns="0" tIns="0" rIns="0" bIns="0" rtlCol="0" anchor="ctr"/>
          <a:lstStyle/>
          <a:p>
            <a:pPr algn="r" indent="0" marL="0">
              <a:buNone/>
            </a:pPr>
            <a:r>
              <a:rPr lang="en-US" sz="1200" b="1" dirty="0">
                <a:solidFill>
                  <a:srgbClr val="1F2933"/>
                </a:solidFill>
                <a:latin typeface="Calibri" pitchFamily="34" charset="0"/>
                <a:ea typeface="Calibri" pitchFamily="34" charset="-122"/>
                <a:cs typeface="Calibri" pitchFamily="34" charset="-120"/>
              </a:rPr>
              <a:t>Launch</a:t>
            </a:r>
            <a:endParaRPr lang="en-US" sz="1200" dirty="0"/>
          </a:p>
        </p:txBody>
      </p:sp>
      <p:sp>
        <p:nvSpPr>
          <p:cNvPr id="40" name="Text 38"/>
          <p:cNvSpPr txBox="1"/>
          <p:nvPr/>
        </p:nvSpPr>
        <p:spPr>
          <a:xfrm>
            <a:off x="548640" y="5943600"/>
            <a:ext cx="10058400" cy="320040"/>
          </a:xfrm>
          <a:prstGeom prst="rect">
            <a:avLst/>
          </a:prstGeom>
          <a:noFill/>
          <a:ln/>
        </p:spPr>
        <p:txBody>
          <a:bodyPr wrap="square" lIns="0" tIns="0" rIns="0" bIns="0" rtlCol="0" anchor="ctr"/>
          <a:lstStyle/>
          <a:p>
            <a:pPr indent="0" marL="0">
              <a:buNone/>
            </a:pPr>
            <a:r>
              <a:rPr lang="en-US" sz="1200" i="1" dirty="0">
                <a:solidFill>
                  <a:srgbClr val="6B7580"/>
                </a:solidFill>
                <a:latin typeface="Calibri" pitchFamily="34" charset="0"/>
                <a:ea typeface="Calibri" pitchFamily="34" charset="-122"/>
                <a:cs typeface="Calibri" pitchFamily="34" charset="-120"/>
              </a:rPr>
              <a:t>Assumes content and feedback from Pamar within 3 business days. Phases overlap to shorten the schedule.</a:t>
            </a:r>
            <a:endParaRPr lang="en-US" sz="1200" dirty="0"/>
          </a:p>
        </p:txBody>
      </p:sp>
      <p:sp>
        <p:nvSpPr>
          <p:cNvPr id="41" name="Text 39"/>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42" name="Text 40"/>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INVESTMENT</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Choose the scope that fits</a:t>
            </a:r>
            <a:endParaRPr lang="en-US" sz="3400" dirty="0"/>
          </a:p>
        </p:txBody>
      </p:sp>
      <p:sp>
        <p:nvSpPr>
          <p:cNvPr id="4" name="Shape 2"/>
          <p:cNvSpPr/>
          <p:nvPr/>
        </p:nvSpPr>
        <p:spPr>
          <a:xfrm>
            <a:off x="548640" y="1783080"/>
            <a:ext cx="3484778" cy="3840480"/>
          </a:xfrm>
          <a:prstGeom prst="roundRect">
            <a:avLst>
              <a:gd name="adj" fmla="val 3149"/>
            </a:avLst>
          </a:prstGeom>
          <a:solidFill>
            <a:srgbClr val="F3F4F6"/>
          </a:solidFill>
          <a:ln w="12700">
            <a:solidFill>
              <a:srgbClr val="F3F4F6"/>
            </a:solidFill>
            <a:prstDash val="solid"/>
          </a:ln>
        </p:spPr>
      </p:sp>
      <p:sp>
        <p:nvSpPr>
          <p:cNvPr id="5" name="Shape 3"/>
          <p:cNvSpPr/>
          <p:nvPr/>
        </p:nvSpPr>
        <p:spPr>
          <a:xfrm>
            <a:off x="868680" y="2103120"/>
            <a:ext cx="502920" cy="502920"/>
          </a:xfrm>
          <a:prstGeom prst="ellipse">
            <a:avLst/>
          </a:prstGeom>
          <a:solidFill>
            <a:srgbClr val="F7C92D"/>
          </a:solidFill>
          <a:ln w="12700">
            <a:solidFill>
              <a:srgbClr val="F7C92D"/>
            </a:solidFill>
            <a:prstDash val="solid"/>
          </a:ln>
        </p:spPr>
      </p:sp>
      <p:sp>
        <p:nvSpPr>
          <p:cNvPr id="6" name="Text 4"/>
          <p:cNvSpPr txBox="1"/>
          <p:nvPr/>
        </p:nvSpPr>
        <p:spPr>
          <a:xfrm>
            <a:off x="868680" y="2103120"/>
            <a:ext cx="502920" cy="502920"/>
          </a:xfrm>
          <a:prstGeom prst="rect">
            <a:avLst/>
          </a:prstGeom>
          <a:noFill/>
          <a:ln/>
        </p:spPr>
        <p:txBody>
          <a:bodyPr wrap="square" lIns="0" tIns="0" rIns="0" bIns="0" rtlCol="0" anchor="ctr"/>
          <a:lstStyle/>
          <a:p>
            <a:pPr algn="ctr" indent="0" marL="0">
              <a:buNone/>
            </a:pPr>
            <a:r>
              <a:rPr lang="en-US" sz="1600" b="1" dirty="0">
                <a:solidFill>
                  <a:srgbClr val="171C22"/>
                </a:solidFill>
                <a:latin typeface="Arial" pitchFamily="34" charset="0"/>
                <a:ea typeface="Arial" pitchFamily="34" charset="-122"/>
                <a:cs typeface="Arial" pitchFamily="34" charset="-120"/>
              </a:rPr>
              <a:t>1</a:t>
            </a:r>
            <a:endParaRPr lang="en-US" sz="1600" dirty="0"/>
          </a:p>
        </p:txBody>
      </p:sp>
      <p:sp>
        <p:nvSpPr>
          <p:cNvPr id="7" name="Text 5"/>
          <p:cNvSpPr txBox="1"/>
          <p:nvPr/>
        </p:nvSpPr>
        <p:spPr>
          <a:xfrm>
            <a:off x="1508760" y="2103120"/>
            <a:ext cx="2296058" cy="502920"/>
          </a:xfrm>
          <a:prstGeom prst="rect">
            <a:avLst/>
          </a:prstGeom>
          <a:noFill/>
          <a:ln/>
        </p:spPr>
        <p:txBody>
          <a:bodyPr wrap="square" lIns="0" tIns="0" rIns="0" bIns="0" rtlCol="0" anchor="ctr"/>
          <a:lstStyle/>
          <a:p>
            <a:pPr indent="0" marL="0">
              <a:buNone/>
            </a:pPr>
            <a:r>
              <a:rPr lang="en-US" sz="2000" b="1" dirty="0">
                <a:solidFill>
                  <a:srgbClr val="1F2933"/>
                </a:solidFill>
                <a:latin typeface="Arial" pitchFamily="34" charset="0"/>
                <a:ea typeface="Arial" pitchFamily="34" charset="-122"/>
                <a:cs typeface="Arial" pitchFamily="34" charset="-120"/>
              </a:rPr>
              <a:t>Essentials</a:t>
            </a:r>
            <a:endParaRPr lang="en-US" sz="2000" dirty="0"/>
          </a:p>
        </p:txBody>
      </p:sp>
      <p:sp>
        <p:nvSpPr>
          <p:cNvPr id="8" name="Text 6"/>
          <p:cNvSpPr txBox="1"/>
          <p:nvPr/>
        </p:nvSpPr>
        <p:spPr>
          <a:xfrm>
            <a:off x="868680" y="2788920"/>
            <a:ext cx="2844698" cy="365760"/>
          </a:xfrm>
          <a:prstGeom prst="rect">
            <a:avLst/>
          </a:prstGeom>
          <a:noFill/>
          <a:ln/>
        </p:spPr>
        <p:txBody>
          <a:bodyPr wrap="square" lIns="0" tIns="0" rIns="0" bIns="0" rtlCol="0" anchor="ctr"/>
          <a:lstStyle/>
          <a:p>
            <a:pPr indent="0" marL="0">
              <a:buNone/>
            </a:pPr>
            <a:r>
              <a:rPr lang="en-US" sz="1500" i="1" dirty="0">
                <a:solidFill>
                  <a:srgbClr val="3E5C76"/>
                </a:solidFill>
                <a:latin typeface="Calibri" pitchFamily="34" charset="0"/>
                <a:ea typeface="Calibri" pitchFamily="34" charset="-122"/>
                <a:cs typeface="Calibri" pitchFamily="34" charset="-120"/>
              </a:rPr>
              <a:t>Showcase and careers</a:t>
            </a:r>
            <a:endParaRPr lang="en-US" sz="1500" dirty="0"/>
          </a:p>
        </p:txBody>
      </p:sp>
      <p:sp>
        <p:nvSpPr>
          <p:cNvPr id="9" name="Text 7"/>
          <p:cNvSpPr txBox="1"/>
          <p:nvPr/>
        </p:nvSpPr>
        <p:spPr>
          <a:xfrm>
            <a:off x="868680" y="3291840"/>
            <a:ext cx="2844698"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Showcase site: services, projects, About, Safety, Contact</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Careers funnel with mobile applications</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SEO, analytics, and launch</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Subcontracting stays on email for now</a:t>
            </a:r>
            <a:endParaRPr lang="en-US" sz="1400" dirty="0"/>
          </a:p>
        </p:txBody>
      </p:sp>
      <p:sp>
        <p:nvSpPr>
          <p:cNvPr id="10" name="Shape 8"/>
          <p:cNvSpPr/>
          <p:nvPr/>
        </p:nvSpPr>
        <p:spPr>
          <a:xfrm>
            <a:off x="4353458" y="1783080"/>
            <a:ext cx="3484778" cy="3840480"/>
          </a:xfrm>
          <a:prstGeom prst="roundRect">
            <a:avLst>
              <a:gd name="adj" fmla="val 3149"/>
            </a:avLst>
          </a:prstGeom>
          <a:solidFill>
            <a:srgbClr val="F3F4F6"/>
          </a:solidFill>
          <a:ln w="12700">
            <a:solidFill>
              <a:srgbClr val="F3F4F6"/>
            </a:solidFill>
            <a:prstDash val="solid"/>
          </a:ln>
        </p:spPr>
      </p:sp>
      <p:sp>
        <p:nvSpPr>
          <p:cNvPr id="11" name="Shape 9"/>
          <p:cNvSpPr/>
          <p:nvPr/>
        </p:nvSpPr>
        <p:spPr>
          <a:xfrm>
            <a:off x="4673498" y="2103120"/>
            <a:ext cx="502920" cy="502920"/>
          </a:xfrm>
          <a:prstGeom prst="ellipse">
            <a:avLst/>
          </a:prstGeom>
          <a:solidFill>
            <a:srgbClr val="F7C92D"/>
          </a:solidFill>
          <a:ln w="12700">
            <a:solidFill>
              <a:srgbClr val="F7C92D"/>
            </a:solidFill>
            <a:prstDash val="solid"/>
          </a:ln>
        </p:spPr>
      </p:sp>
      <p:sp>
        <p:nvSpPr>
          <p:cNvPr id="12" name="Text 10"/>
          <p:cNvSpPr txBox="1"/>
          <p:nvPr/>
        </p:nvSpPr>
        <p:spPr>
          <a:xfrm>
            <a:off x="4673498" y="2103120"/>
            <a:ext cx="502920" cy="502920"/>
          </a:xfrm>
          <a:prstGeom prst="rect">
            <a:avLst/>
          </a:prstGeom>
          <a:noFill/>
          <a:ln/>
        </p:spPr>
        <p:txBody>
          <a:bodyPr wrap="square" lIns="0" tIns="0" rIns="0" bIns="0" rtlCol="0" anchor="ctr"/>
          <a:lstStyle/>
          <a:p>
            <a:pPr algn="ctr" indent="0" marL="0">
              <a:buNone/>
            </a:pPr>
            <a:r>
              <a:rPr lang="en-US" sz="1600" b="1" dirty="0">
                <a:solidFill>
                  <a:srgbClr val="171C22"/>
                </a:solidFill>
                <a:latin typeface="Arial" pitchFamily="34" charset="0"/>
                <a:ea typeface="Arial" pitchFamily="34" charset="-122"/>
                <a:cs typeface="Arial" pitchFamily="34" charset="-120"/>
              </a:rPr>
              <a:t>2</a:t>
            </a:r>
            <a:endParaRPr lang="en-US" sz="1600" dirty="0"/>
          </a:p>
        </p:txBody>
      </p:sp>
      <p:sp>
        <p:nvSpPr>
          <p:cNvPr id="13" name="Text 11"/>
          <p:cNvSpPr txBox="1"/>
          <p:nvPr/>
        </p:nvSpPr>
        <p:spPr>
          <a:xfrm>
            <a:off x="5313578" y="2103120"/>
            <a:ext cx="2296058" cy="502920"/>
          </a:xfrm>
          <a:prstGeom prst="rect">
            <a:avLst/>
          </a:prstGeom>
          <a:noFill/>
          <a:ln/>
        </p:spPr>
        <p:txBody>
          <a:bodyPr wrap="square" lIns="0" tIns="0" rIns="0" bIns="0" rtlCol="0" anchor="ctr"/>
          <a:lstStyle/>
          <a:p>
            <a:pPr indent="0" marL="0">
              <a:buNone/>
            </a:pPr>
            <a:r>
              <a:rPr lang="en-US" sz="2000" b="1" dirty="0">
                <a:solidFill>
                  <a:srgbClr val="1F2933"/>
                </a:solidFill>
                <a:latin typeface="Arial" pitchFamily="34" charset="0"/>
                <a:ea typeface="Arial" pitchFamily="34" charset="-122"/>
                <a:cs typeface="Arial" pitchFamily="34" charset="-120"/>
              </a:rPr>
              <a:t>Standard</a:t>
            </a:r>
            <a:endParaRPr lang="en-US" sz="2000" dirty="0"/>
          </a:p>
        </p:txBody>
      </p:sp>
      <p:sp>
        <p:nvSpPr>
          <p:cNvPr id="14" name="Text 12"/>
          <p:cNvSpPr txBox="1"/>
          <p:nvPr/>
        </p:nvSpPr>
        <p:spPr>
          <a:xfrm>
            <a:off x="4673498" y="2788920"/>
            <a:ext cx="2844698" cy="365760"/>
          </a:xfrm>
          <a:prstGeom prst="rect">
            <a:avLst/>
          </a:prstGeom>
          <a:noFill/>
          <a:ln/>
        </p:spPr>
        <p:txBody>
          <a:bodyPr wrap="square" lIns="0" tIns="0" rIns="0" bIns="0" rtlCol="0" anchor="ctr"/>
          <a:lstStyle/>
          <a:p>
            <a:pPr indent="0" marL="0">
              <a:buNone/>
            </a:pPr>
            <a:r>
              <a:rPr lang="en-US" sz="1500" i="1" dirty="0">
                <a:solidFill>
                  <a:srgbClr val="3E5C76"/>
                </a:solidFill>
                <a:latin typeface="Calibri" pitchFamily="34" charset="0"/>
                <a:ea typeface="Calibri" pitchFamily="34" charset="-122"/>
                <a:cs typeface="Calibri" pitchFamily="34" charset="-120"/>
              </a:rPr>
              <a:t>Add the subcontractor portal</a:t>
            </a:r>
            <a:endParaRPr lang="en-US" sz="1500" dirty="0"/>
          </a:p>
        </p:txBody>
      </p:sp>
      <p:sp>
        <p:nvSpPr>
          <p:cNvPr id="15" name="Text 13"/>
          <p:cNvSpPr txBox="1"/>
          <p:nvPr/>
        </p:nvSpPr>
        <p:spPr>
          <a:xfrm>
            <a:off x="4673498" y="3291840"/>
            <a:ext cx="2844698"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Everything in Essentials</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Bid board and subcontractor registration</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Intent-to-bid and bid submission</a:t>
            </a:r>
            <a:endParaRPr lang="en-US" sz="1400" dirty="0"/>
          </a:p>
          <a:p>
            <a:pPr marL="342900" indent="-342900">
              <a:spcAft>
                <a:spcPts val="600"/>
              </a:spcAft>
              <a:buSzPct val="100000"/>
              <a:buChar char="•"/>
            </a:pPr>
            <a:r>
              <a:rPr lang="en-US" sz="1400" dirty="0">
                <a:solidFill>
                  <a:srgbClr val="3D4752"/>
                </a:solidFill>
                <a:latin typeface="Calibri" pitchFamily="34" charset="0"/>
                <a:ea typeface="Calibri" pitchFamily="34" charset="-122"/>
                <a:cs typeface="Calibri" pitchFamily="34" charset="-120"/>
              </a:rPr>
              <a:t>CMS so staff update jobs, packages, and projects</a:t>
            </a:r>
            <a:endParaRPr lang="en-US" sz="1400" dirty="0"/>
          </a:p>
        </p:txBody>
      </p:sp>
      <p:sp>
        <p:nvSpPr>
          <p:cNvPr id="16" name="Shape 14"/>
          <p:cNvSpPr/>
          <p:nvPr/>
        </p:nvSpPr>
        <p:spPr>
          <a:xfrm>
            <a:off x="8158277" y="1783080"/>
            <a:ext cx="3484778" cy="3840480"/>
          </a:xfrm>
          <a:prstGeom prst="roundRect">
            <a:avLst>
              <a:gd name="adj" fmla="val 3149"/>
            </a:avLst>
          </a:prstGeom>
          <a:solidFill>
            <a:srgbClr val="171C22"/>
          </a:solidFill>
          <a:ln w="12700">
            <a:solidFill>
              <a:srgbClr val="171C22"/>
            </a:solidFill>
            <a:prstDash val="solid"/>
          </a:ln>
        </p:spPr>
      </p:sp>
      <p:sp>
        <p:nvSpPr>
          <p:cNvPr id="17" name="Shape 15"/>
          <p:cNvSpPr/>
          <p:nvPr/>
        </p:nvSpPr>
        <p:spPr>
          <a:xfrm>
            <a:off x="8478317" y="2103120"/>
            <a:ext cx="502920" cy="502920"/>
          </a:xfrm>
          <a:prstGeom prst="ellipse">
            <a:avLst/>
          </a:prstGeom>
          <a:solidFill>
            <a:srgbClr val="F7C92D"/>
          </a:solidFill>
          <a:ln w="12700">
            <a:solidFill>
              <a:srgbClr val="F7C92D"/>
            </a:solidFill>
            <a:prstDash val="solid"/>
          </a:ln>
        </p:spPr>
      </p:sp>
      <p:sp>
        <p:nvSpPr>
          <p:cNvPr id="18" name="Text 16"/>
          <p:cNvSpPr txBox="1"/>
          <p:nvPr/>
        </p:nvSpPr>
        <p:spPr>
          <a:xfrm>
            <a:off x="8478317" y="2103120"/>
            <a:ext cx="502920" cy="502920"/>
          </a:xfrm>
          <a:prstGeom prst="rect">
            <a:avLst/>
          </a:prstGeom>
          <a:noFill/>
          <a:ln/>
        </p:spPr>
        <p:txBody>
          <a:bodyPr wrap="square" lIns="0" tIns="0" rIns="0" bIns="0" rtlCol="0" anchor="ctr"/>
          <a:lstStyle/>
          <a:p>
            <a:pPr algn="ctr" indent="0" marL="0">
              <a:buNone/>
            </a:pPr>
            <a:r>
              <a:rPr lang="en-US" sz="1600" b="1" dirty="0">
                <a:solidFill>
                  <a:srgbClr val="171C22"/>
                </a:solidFill>
                <a:latin typeface="Arial" pitchFamily="34" charset="0"/>
                <a:ea typeface="Arial" pitchFamily="34" charset="-122"/>
                <a:cs typeface="Arial" pitchFamily="34" charset="-120"/>
              </a:rPr>
              <a:t>3</a:t>
            </a:r>
            <a:endParaRPr lang="en-US" sz="1600" dirty="0"/>
          </a:p>
        </p:txBody>
      </p:sp>
      <p:sp>
        <p:nvSpPr>
          <p:cNvPr id="19" name="Text 17"/>
          <p:cNvSpPr txBox="1"/>
          <p:nvPr/>
        </p:nvSpPr>
        <p:spPr>
          <a:xfrm>
            <a:off x="9118397" y="2103120"/>
            <a:ext cx="2296058" cy="50292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Complete</a:t>
            </a:r>
            <a:endParaRPr lang="en-US" sz="2000" dirty="0"/>
          </a:p>
        </p:txBody>
      </p:sp>
      <p:sp>
        <p:nvSpPr>
          <p:cNvPr id="20" name="Text 18"/>
          <p:cNvSpPr txBox="1"/>
          <p:nvPr/>
        </p:nvSpPr>
        <p:spPr>
          <a:xfrm>
            <a:off x="8478317" y="2788920"/>
            <a:ext cx="2844698" cy="365760"/>
          </a:xfrm>
          <a:prstGeom prst="rect">
            <a:avLst/>
          </a:prstGeom>
          <a:noFill/>
          <a:ln/>
        </p:spPr>
        <p:txBody>
          <a:bodyPr wrap="square" lIns="0" tIns="0" rIns="0" bIns="0" rtlCol="0" anchor="ctr"/>
          <a:lstStyle/>
          <a:p>
            <a:pPr indent="0" marL="0">
              <a:buNone/>
            </a:pPr>
            <a:r>
              <a:rPr lang="en-US" sz="1500" i="1" dirty="0">
                <a:solidFill>
                  <a:srgbClr val="F7C92D"/>
                </a:solidFill>
                <a:latin typeface="Calibri" pitchFamily="34" charset="0"/>
                <a:ea typeface="Calibri" pitchFamily="34" charset="-122"/>
                <a:cs typeface="Calibri" pitchFamily="34" charset="-120"/>
              </a:rPr>
              <a:t>The full platform</a:t>
            </a:r>
            <a:endParaRPr lang="en-US" sz="1500" dirty="0"/>
          </a:p>
        </p:txBody>
      </p:sp>
      <p:sp>
        <p:nvSpPr>
          <p:cNvPr id="21" name="Text 19"/>
          <p:cNvSpPr txBox="1"/>
          <p:nvPr/>
        </p:nvSpPr>
        <p:spPr>
          <a:xfrm>
            <a:off x="8478317" y="3291840"/>
            <a:ext cx="2844698"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Everything in Standard</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Subcontractor accounts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Restricted plan and spec downloads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Trade-matched bid alerts by email</a:t>
            </a:r>
            <a:endParaRPr lang="en-US" sz="1400" dirty="0"/>
          </a:p>
        </p:txBody>
      </p:sp>
      <p:sp>
        <p:nvSpPr>
          <p:cNvPr id="22" name="Text 20"/>
          <p:cNvSpPr txBox="1"/>
          <p:nvPr/>
        </p:nvSpPr>
        <p:spPr>
          <a:xfrm>
            <a:off x="548640" y="5806440"/>
            <a:ext cx="11094415" cy="502920"/>
          </a:xfrm>
          <a:prstGeom prst="rect">
            <a:avLst/>
          </a:prstGeom>
          <a:noFill/>
          <a:ln/>
        </p:spPr>
        <p:txBody>
          <a:bodyPr wrap="square" lIns="0" tIns="0" rIns="0" bIns="0" rtlCol="0" anchor="t"/>
          <a:lstStyle/>
          <a:p>
            <a:pPr indent="0" marL="0">
              <a:buNone/>
            </a:pPr>
            <a:r>
              <a:rPr lang="en-US" sz="1300" i="1" dirty="0">
                <a:solidFill>
                  <a:srgbClr val="6B7580"/>
                </a:solidFill>
                <a:latin typeface="Calibri" pitchFamily="34" charset="0"/>
                <a:ea typeface="Calibri" pitchFamily="34" charset="-122"/>
                <a:cs typeface="Calibri" pitchFamily="34" charset="-120"/>
              </a:rPr>
              <a:t>Every package is a fixed price, sized to your budget and priorities. Add-ons are available: copywriting, project map, applicant-tracking integration, bid dashboard, photography.</a:t>
            </a:r>
            <a:endParaRPr lang="en-US" sz="1300" dirty="0"/>
          </a:p>
        </p:txBody>
      </p:sp>
      <p:sp>
        <p:nvSpPr>
          <p:cNvPr id="23" name="Text 21"/>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24" name="Text 22"/>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3E5C76"/>
                </a:solidFill>
                <a:latin typeface="Arial" pitchFamily="34" charset="0"/>
                <a:ea typeface="Arial" pitchFamily="34" charset="-122"/>
                <a:cs typeface="Arial" pitchFamily="34" charset="-120"/>
              </a:rPr>
              <a:t>AFTER LAUNCH</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1F2933"/>
                </a:solidFill>
                <a:latin typeface="Arial" pitchFamily="34" charset="0"/>
                <a:ea typeface="Arial" pitchFamily="34" charset="-122"/>
                <a:cs typeface="Arial" pitchFamily="34" charset="-120"/>
              </a:rPr>
              <a:t>Support plans that keep the site working for you</a:t>
            </a:r>
            <a:endParaRPr lang="en-US" sz="3400" dirty="0"/>
          </a:p>
        </p:txBody>
      </p:sp>
      <p:sp>
        <p:nvSpPr>
          <p:cNvPr id="4" name="Shape 2"/>
          <p:cNvSpPr/>
          <p:nvPr/>
        </p:nvSpPr>
        <p:spPr>
          <a:xfrm>
            <a:off x="548640" y="1783080"/>
            <a:ext cx="3484778" cy="4069080"/>
          </a:xfrm>
          <a:prstGeom prst="roundRect">
            <a:avLst>
              <a:gd name="adj" fmla="val 3149"/>
            </a:avLst>
          </a:prstGeom>
          <a:solidFill>
            <a:srgbClr val="F3F4F6"/>
          </a:solidFill>
          <a:ln w="12700">
            <a:solidFill>
              <a:srgbClr val="F3F4F6"/>
            </a:solidFill>
            <a:prstDash val="solid"/>
          </a:ln>
        </p:spPr>
      </p:sp>
      <p:sp>
        <p:nvSpPr>
          <p:cNvPr id="5" name="Text 3"/>
          <p:cNvSpPr txBox="1"/>
          <p:nvPr/>
        </p:nvSpPr>
        <p:spPr>
          <a:xfrm>
            <a:off x="868680" y="2057400"/>
            <a:ext cx="2011680" cy="365760"/>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Essential</a:t>
            </a:r>
            <a:endParaRPr lang="en-US" sz="1900" dirty="0"/>
          </a:p>
        </p:txBody>
      </p:sp>
      <p:sp>
        <p:nvSpPr>
          <p:cNvPr id="6" name="Text 4"/>
          <p:cNvSpPr txBox="1"/>
          <p:nvPr/>
        </p:nvSpPr>
        <p:spPr>
          <a:xfrm>
            <a:off x="868680" y="2606040"/>
            <a:ext cx="2844698" cy="548640"/>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Secure &amp; running</a:t>
            </a:r>
            <a:endParaRPr lang="en-US" sz="1900" dirty="0"/>
          </a:p>
        </p:txBody>
      </p:sp>
      <p:sp>
        <p:nvSpPr>
          <p:cNvPr id="7" name="Text 5"/>
          <p:cNvSpPr txBox="1"/>
          <p:nvPr/>
        </p:nvSpPr>
        <p:spPr>
          <a:xfrm>
            <a:off x="868680" y="3200400"/>
            <a:ext cx="2844698" cy="320040"/>
          </a:xfrm>
          <a:prstGeom prst="rect">
            <a:avLst/>
          </a:prstGeom>
          <a:noFill/>
          <a:ln/>
        </p:spPr>
        <p:txBody>
          <a:bodyPr wrap="square" lIns="0" tIns="0" rIns="0" bIns="0" rtlCol="0" anchor="ctr"/>
          <a:lstStyle/>
          <a:p>
            <a:pPr indent="0" marL="0">
              <a:buNone/>
            </a:pPr>
            <a:r>
              <a:rPr lang="en-US" sz="1300" dirty="0">
                <a:solidFill>
                  <a:srgbClr val="6B7580"/>
                </a:solidFill>
                <a:latin typeface="Calibri" pitchFamily="34" charset="0"/>
                <a:ea typeface="Calibri" pitchFamily="34" charset="-122"/>
                <a:cs typeface="Calibri" pitchFamily="34" charset="-120"/>
              </a:rPr>
              <a:t>5 hours of maintenance and changes included</a:t>
            </a:r>
            <a:endParaRPr lang="en-US" sz="1300" dirty="0"/>
          </a:p>
        </p:txBody>
      </p:sp>
      <p:sp>
        <p:nvSpPr>
          <p:cNvPr id="8" name="Text 6"/>
          <p:cNvSpPr txBox="1"/>
          <p:nvPr/>
        </p:nvSpPr>
        <p:spPr>
          <a:xfrm>
            <a:off x="868680" y="3657600"/>
            <a:ext cx="2844698"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D4752"/>
                </a:solidFill>
                <a:latin typeface="Calibri" pitchFamily="34" charset="0"/>
                <a:ea typeface="Calibri" pitchFamily="34" charset="-122"/>
                <a:cs typeface="Calibri" pitchFamily="34" charset="-120"/>
              </a:rPr>
              <a:t>Hosting, SSL &amp; monthly security updates</a:t>
            </a:r>
            <a:endParaRPr lang="en-US" sz="1400" dirty="0"/>
          </a:p>
          <a:p>
            <a:pPr marL="342900" indent="-342900">
              <a:spcAft>
                <a:spcPts val="500"/>
              </a:spcAft>
              <a:buSzPct val="100000"/>
              <a:buChar char="•"/>
            </a:pPr>
            <a:r>
              <a:rPr lang="en-US" sz="1400" dirty="0">
                <a:solidFill>
                  <a:srgbClr val="3D4752"/>
                </a:solidFill>
                <a:latin typeface="Calibri" pitchFamily="34" charset="0"/>
                <a:ea typeface="Calibri" pitchFamily="34" charset="-122"/>
                <a:cs typeface="Calibri" pitchFamily="34" charset="-120"/>
              </a:rPr>
              <a:t>Uptime monitoring &amp; daily backups</a:t>
            </a:r>
            <a:endParaRPr lang="en-US" sz="1400" dirty="0"/>
          </a:p>
          <a:p>
            <a:pPr marL="342900" indent="-342900">
              <a:spcAft>
                <a:spcPts val="500"/>
              </a:spcAft>
              <a:buSzPct val="100000"/>
              <a:buChar char="•"/>
            </a:pPr>
            <a:r>
              <a:rPr lang="en-US" sz="1400" dirty="0">
                <a:solidFill>
                  <a:srgbClr val="3D4752"/>
                </a:solidFill>
                <a:latin typeface="Calibri" pitchFamily="34" charset="0"/>
                <a:ea typeface="Calibri" pitchFamily="34" charset="-122"/>
                <a:cs typeface="Calibri" pitchFamily="34" charset="-120"/>
              </a:rPr>
              <a:t>Small content help</a:t>
            </a:r>
            <a:endParaRPr lang="en-US" sz="1400" dirty="0"/>
          </a:p>
          <a:p>
            <a:pPr marL="342900" indent="-342900">
              <a:spcAft>
                <a:spcPts val="500"/>
              </a:spcAft>
              <a:buSzPct val="100000"/>
              <a:buChar char="•"/>
            </a:pPr>
            <a:r>
              <a:rPr lang="en-US" sz="1400" dirty="0">
                <a:solidFill>
                  <a:srgbClr val="3D4752"/>
                </a:solidFill>
                <a:latin typeface="Calibri" pitchFamily="34" charset="0"/>
                <a:ea typeface="Calibri" pitchFamily="34" charset="-122"/>
                <a:cs typeface="Calibri" pitchFamily="34" charset="-120"/>
              </a:rPr>
              <a:t>2-business-day response</a:t>
            </a:r>
            <a:endParaRPr lang="en-US" sz="1400" dirty="0"/>
          </a:p>
          <a:p>
            <a:pPr marL="342900" indent="-342900">
              <a:spcAft>
                <a:spcPts val="500"/>
              </a:spcAft>
              <a:buSzPct val="100000"/>
              <a:buChar char="•"/>
            </a:pPr>
            <a:r>
              <a:rPr lang="en-US" sz="1400" dirty="0">
                <a:solidFill>
                  <a:srgbClr val="3D4752"/>
                </a:solidFill>
                <a:latin typeface="Calibri" pitchFamily="34" charset="0"/>
                <a:ea typeface="Calibri" pitchFamily="34" charset="-122"/>
                <a:cs typeface="Calibri" pitchFamily="34" charset="-120"/>
              </a:rPr>
              <a:t>Quarterly analytics report</a:t>
            </a:r>
            <a:endParaRPr lang="en-US" sz="1400" dirty="0"/>
          </a:p>
        </p:txBody>
      </p:sp>
      <p:sp>
        <p:nvSpPr>
          <p:cNvPr id="9" name="Shape 7"/>
          <p:cNvSpPr/>
          <p:nvPr/>
        </p:nvSpPr>
        <p:spPr>
          <a:xfrm>
            <a:off x="4353458" y="1783080"/>
            <a:ext cx="3484778" cy="4069080"/>
          </a:xfrm>
          <a:prstGeom prst="roundRect">
            <a:avLst>
              <a:gd name="adj" fmla="val 3149"/>
            </a:avLst>
          </a:prstGeom>
          <a:solidFill>
            <a:srgbClr val="171C22"/>
          </a:solidFill>
          <a:ln w="12700">
            <a:solidFill>
              <a:srgbClr val="171C22"/>
            </a:solidFill>
            <a:prstDash val="solid"/>
          </a:ln>
          <a:effectLst>
            <a:outerShdw sx="100000" sy="100000" kx="0" ky="0" algn="bl" rotWithShape="0" blurRad="177800" dist="63500" dir="5400000">
              <a:srgbClr val="000000">
                <a:alpha val="25000"/>
              </a:srgbClr>
            </a:outerShdw>
          </a:effectLst>
        </p:spPr>
      </p:sp>
      <p:sp>
        <p:nvSpPr>
          <p:cNvPr id="10" name="Shape 8"/>
          <p:cNvSpPr/>
          <p:nvPr/>
        </p:nvSpPr>
        <p:spPr>
          <a:xfrm>
            <a:off x="6238037" y="2057400"/>
            <a:ext cx="1325880" cy="329184"/>
          </a:xfrm>
          <a:prstGeom prst="roundRect">
            <a:avLst>
              <a:gd name="adj" fmla="val 50000"/>
            </a:avLst>
          </a:prstGeom>
          <a:solidFill>
            <a:srgbClr val="F7C92D"/>
          </a:solidFill>
          <a:ln w="12700">
            <a:solidFill>
              <a:srgbClr val="F7C92D"/>
            </a:solidFill>
            <a:prstDash val="solid"/>
          </a:ln>
        </p:spPr>
      </p:sp>
      <p:sp>
        <p:nvSpPr>
          <p:cNvPr id="11" name="Text 9"/>
          <p:cNvSpPr txBox="1"/>
          <p:nvPr/>
        </p:nvSpPr>
        <p:spPr>
          <a:xfrm>
            <a:off x="6238037" y="2057400"/>
            <a:ext cx="1325880" cy="329184"/>
          </a:xfrm>
          <a:prstGeom prst="rect">
            <a:avLst/>
          </a:prstGeom>
          <a:noFill/>
          <a:ln/>
        </p:spPr>
        <p:txBody>
          <a:bodyPr wrap="square" lIns="0" tIns="0" rIns="0" bIns="0" rtlCol="0" anchor="ctr"/>
          <a:lstStyle/>
          <a:p>
            <a:pPr algn="ctr" indent="0" marL="0">
              <a:buNone/>
            </a:pPr>
            <a:r>
              <a:rPr lang="en-US" sz="1000" b="1" dirty="0">
                <a:solidFill>
                  <a:srgbClr val="171C22"/>
                </a:solidFill>
                <a:latin typeface="Arial" pitchFamily="34" charset="0"/>
                <a:ea typeface="Arial" pitchFamily="34" charset="-122"/>
                <a:cs typeface="Arial" pitchFamily="34" charset="-120"/>
              </a:rPr>
              <a:t>RECOMMENDED</a:t>
            </a:r>
            <a:endParaRPr lang="en-US" sz="1000" dirty="0"/>
          </a:p>
        </p:txBody>
      </p:sp>
      <p:sp>
        <p:nvSpPr>
          <p:cNvPr id="12" name="Text 10"/>
          <p:cNvSpPr txBox="1"/>
          <p:nvPr/>
        </p:nvSpPr>
        <p:spPr>
          <a:xfrm>
            <a:off x="4673498" y="2057400"/>
            <a:ext cx="2011680" cy="36576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Growth</a:t>
            </a:r>
            <a:endParaRPr lang="en-US" sz="1900" dirty="0"/>
          </a:p>
        </p:txBody>
      </p:sp>
      <p:sp>
        <p:nvSpPr>
          <p:cNvPr id="13" name="Text 11"/>
          <p:cNvSpPr txBox="1"/>
          <p:nvPr/>
        </p:nvSpPr>
        <p:spPr>
          <a:xfrm>
            <a:off x="4673498" y="2606040"/>
            <a:ext cx="2844698" cy="548640"/>
          </a:xfrm>
          <a:prstGeom prst="rect">
            <a:avLst/>
          </a:prstGeom>
          <a:noFill/>
          <a:ln/>
        </p:spPr>
        <p:txBody>
          <a:bodyPr wrap="square" lIns="0" tIns="0" rIns="0" bIns="0" rtlCol="0" anchor="ctr"/>
          <a:lstStyle/>
          <a:p>
            <a:pPr indent="0" marL="0">
              <a:buNone/>
            </a:pPr>
            <a:r>
              <a:rPr lang="en-US" sz="1900" b="1" dirty="0">
                <a:solidFill>
                  <a:srgbClr val="F7C92D"/>
                </a:solidFill>
                <a:latin typeface="Arial" pitchFamily="34" charset="0"/>
                <a:ea typeface="Arial" pitchFamily="34" charset="-122"/>
                <a:cs typeface="Arial" pitchFamily="34" charset="-120"/>
              </a:rPr>
              <a:t>Hands-on help</a:t>
            </a:r>
            <a:endParaRPr lang="en-US" sz="1900" dirty="0"/>
          </a:p>
        </p:txBody>
      </p:sp>
      <p:sp>
        <p:nvSpPr>
          <p:cNvPr id="14" name="Text 12"/>
          <p:cNvSpPr txBox="1"/>
          <p:nvPr/>
        </p:nvSpPr>
        <p:spPr>
          <a:xfrm>
            <a:off x="4673498" y="3200400"/>
            <a:ext cx="2844698" cy="320040"/>
          </a:xfrm>
          <a:prstGeom prst="rect">
            <a:avLst/>
          </a:prstGeom>
          <a:noFill/>
          <a:ln/>
        </p:spPr>
        <p:txBody>
          <a:bodyPr wrap="square" lIns="0" tIns="0" rIns="0" bIns="0" rtlCol="0" anchor="ctr"/>
          <a:lstStyle/>
          <a:p>
            <a:pPr indent="0" marL="0">
              <a:buNone/>
            </a:pPr>
            <a:r>
              <a:rPr lang="en-US" sz="1300" dirty="0">
                <a:solidFill>
                  <a:srgbClr val="C9CED4"/>
                </a:solidFill>
                <a:latin typeface="Calibri" pitchFamily="34" charset="0"/>
                <a:ea typeface="Calibri" pitchFamily="34" charset="-122"/>
                <a:cs typeface="Calibri" pitchFamily="34" charset="-120"/>
              </a:rPr>
              <a:t>11 hours of maintenance and changes included</a:t>
            </a:r>
            <a:endParaRPr lang="en-US" sz="1300" dirty="0"/>
          </a:p>
        </p:txBody>
      </p:sp>
      <p:sp>
        <p:nvSpPr>
          <p:cNvPr id="15" name="Text 13"/>
          <p:cNvSpPr txBox="1"/>
          <p:nvPr/>
        </p:nvSpPr>
        <p:spPr>
          <a:xfrm>
            <a:off x="4673498" y="3657600"/>
            <a:ext cx="2844698"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Everything in Essential</a:t>
            </a:r>
            <a:endParaRPr lang="en-US" sz="1400" dirty="0"/>
          </a:p>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Staff help posting jobs, bids &amp; projects</a:t>
            </a:r>
            <a:endParaRPr lang="en-US" sz="1400" dirty="0"/>
          </a:p>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Small new features</a:t>
            </a:r>
            <a:endParaRPr lang="en-US" sz="1400" dirty="0"/>
          </a:p>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1-business-day response</a:t>
            </a:r>
            <a:endParaRPr lang="en-US" sz="1400" dirty="0"/>
          </a:p>
          <a:p>
            <a:pPr marL="342900" indent="-342900">
              <a:spcAft>
                <a:spcPts val="500"/>
              </a:spcAft>
              <a:buSzPct val="100000"/>
              <a:buChar char="•"/>
            </a:pPr>
            <a:r>
              <a:rPr lang="en-US" sz="1400" dirty="0">
                <a:solidFill>
                  <a:srgbClr val="FFFFFF"/>
                </a:solidFill>
                <a:latin typeface="Calibri" pitchFamily="34" charset="0"/>
                <a:ea typeface="Calibri" pitchFamily="34" charset="-122"/>
                <a:cs typeface="Calibri" pitchFamily="34" charset="-120"/>
              </a:rPr>
              <a:t>Monthly analytics + quarterly SEO check</a:t>
            </a:r>
            <a:endParaRPr lang="en-US" sz="1400" dirty="0"/>
          </a:p>
        </p:txBody>
      </p:sp>
      <p:sp>
        <p:nvSpPr>
          <p:cNvPr id="16" name="Shape 14"/>
          <p:cNvSpPr/>
          <p:nvPr/>
        </p:nvSpPr>
        <p:spPr>
          <a:xfrm>
            <a:off x="8158277" y="1783080"/>
            <a:ext cx="3484778" cy="4069080"/>
          </a:xfrm>
          <a:prstGeom prst="roundRect">
            <a:avLst>
              <a:gd name="adj" fmla="val 3149"/>
            </a:avLst>
          </a:prstGeom>
          <a:solidFill>
            <a:srgbClr val="F3F4F6"/>
          </a:solidFill>
          <a:ln w="12700">
            <a:solidFill>
              <a:srgbClr val="F3F4F6"/>
            </a:solidFill>
            <a:prstDash val="solid"/>
          </a:ln>
        </p:spPr>
      </p:sp>
      <p:sp>
        <p:nvSpPr>
          <p:cNvPr id="17" name="Text 15"/>
          <p:cNvSpPr txBox="1"/>
          <p:nvPr/>
        </p:nvSpPr>
        <p:spPr>
          <a:xfrm>
            <a:off x="8478317" y="2057400"/>
            <a:ext cx="2011680" cy="365760"/>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Partner</a:t>
            </a:r>
            <a:endParaRPr lang="en-US" sz="1900" dirty="0"/>
          </a:p>
        </p:txBody>
      </p:sp>
      <p:sp>
        <p:nvSpPr>
          <p:cNvPr id="18" name="Text 16"/>
          <p:cNvSpPr txBox="1"/>
          <p:nvPr/>
        </p:nvSpPr>
        <p:spPr>
          <a:xfrm>
            <a:off x="8478317" y="2606040"/>
            <a:ext cx="2844698" cy="548640"/>
          </a:xfrm>
          <a:prstGeom prst="rect">
            <a:avLst/>
          </a:prstGeom>
          <a:noFill/>
          <a:ln/>
        </p:spPr>
        <p:txBody>
          <a:bodyPr wrap="square" lIns="0" tIns="0" rIns="0" bIns="0" rtlCol="0" anchor="ctr"/>
          <a:lstStyle/>
          <a:p>
            <a:pPr indent="0" marL="0">
              <a:buNone/>
            </a:pPr>
            <a:r>
              <a:rPr lang="en-US" sz="1900" b="1" dirty="0">
                <a:solidFill>
                  <a:srgbClr val="1F2933"/>
                </a:solidFill>
                <a:latin typeface="Arial" pitchFamily="34" charset="0"/>
                <a:ea typeface="Arial" pitchFamily="34" charset="-122"/>
                <a:cs typeface="Arial" pitchFamily="34" charset="-120"/>
              </a:rPr>
              <a:t>Part of your team</a:t>
            </a:r>
            <a:endParaRPr lang="en-US" sz="1900" dirty="0"/>
          </a:p>
        </p:txBody>
      </p:sp>
      <p:sp>
        <p:nvSpPr>
          <p:cNvPr id="19" name="Text 17"/>
          <p:cNvSpPr txBox="1"/>
          <p:nvPr/>
        </p:nvSpPr>
        <p:spPr>
          <a:xfrm>
            <a:off x="8478317" y="3200400"/>
            <a:ext cx="2844698" cy="320040"/>
          </a:xfrm>
          <a:prstGeom prst="rect">
            <a:avLst/>
          </a:prstGeom>
          <a:noFill/>
          <a:ln/>
        </p:spPr>
        <p:txBody>
          <a:bodyPr wrap="square" lIns="0" tIns="0" rIns="0" bIns="0" rtlCol="0" anchor="ctr"/>
          <a:lstStyle/>
          <a:p>
            <a:pPr indent="0" marL="0">
              <a:buNone/>
            </a:pPr>
            <a:r>
              <a:rPr lang="en-US" sz="1300" dirty="0">
                <a:solidFill>
                  <a:srgbClr val="6B7580"/>
                </a:solidFill>
                <a:latin typeface="Calibri" pitchFamily="34" charset="0"/>
                <a:ea typeface="Calibri" pitchFamily="34" charset="-122"/>
                <a:cs typeface="Calibri" pitchFamily="34" charset="-120"/>
              </a:rPr>
              <a:t>24 hours of maintenance and changes included</a:t>
            </a:r>
            <a:endParaRPr lang="en-US" sz="1300" dirty="0"/>
          </a:p>
        </p:txBody>
      </p:sp>
      <p:sp>
        <p:nvSpPr>
          <p:cNvPr id="20" name="Text 18"/>
          <p:cNvSpPr txBox="1"/>
          <p:nvPr/>
        </p:nvSpPr>
        <p:spPr>
          <a:xfrm>
            <a:off x="8478317" y="3657600"/>
            <a:ext cx="2844698" cy="228600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rgbClr val="3D4752"/>
                </a:solidFill>
                <a:latin typeface="Calibri" pitchFamily="34" charset="0"/>
                <a:ea typeface="Calibri" pitchFamily="34" charset="-122"/>
                <a:cs typeface="Calibri" pitchFamily="34" charset="-120"/>
              </a:rPr>
              <a:t>Everything in Growth</a:t>
            </a:r>
            <a:endParaRPr lang="en-US" sz="1400" dirty="0"/>
          </a:p>
          <a:p>
            <a:pPr marL="342900" indent="-342900">
              <a:spcAft>
                <a:spcPts val="500"/>
              </a:spcAft>
              <a:buSzPct val="100000"/>
              <a:buChar char="•"/>
            </a:pPr>
            <a:r>
              <a:rPr lang="en-US" sz="1400" dirty="0">
                <a:solidFill>
                  <a:srgbClr val="3D4752"/>
                </a:solidFill>
                <a:latin typeface="Calibri" pitchFamily="34" charset="0"/>
                <a:ea typeface="Calibri" pitchFamily="34" charset="-122"/>
                <a:cs typeface="Calibri" pitchFamily="34" charset="-120"/>
              </a:rPr>
              <a:t>Roadmap feature sprints</a:t>
            </a:r>
            <a:endParaRPr lang="en-US" sz="1400" dirty="0"/>
          </a:p>
          <a:p>
            <a:pPr marL="342900" indent="-342900">
              <a:spcAft>
                <a:spcPts val="500"/>
              </a:spcAft>
              <a:buSzPct val="100000"/>
              <a:buChar char="•"/>
            </a:pPr>
            <a:r>
              <a:rPr lang="en-US" sz="1400" dirty="0">
                <a:solidFill>
                  <a:srgbClr val="3D4752"/>
                </a:solidFill>
                <a:latin typeface="Calibri" pitchFamily="34" charset="0"/>
                <a:ea typeface="Calibri" pitchFamily="34" charset="-122"/>
                <a:cs typeface="Calibri" pitchFamily="34" charset="-120"/>
              </a:rPr>
              <a:t>Weekly updates, monthly SEO</a:t>
            </a:r>
            <a:endParaRPr lang="en-US" sz="1400" dirty="0"/>
          </a:p>
          <a:p>
            <a:pPr marL="342900" indent="-342900">
              <a:spcAft>
                <a:spcPts val="500"/>
              </a:spcAft>
              <a:buSzPct val="100000"/>
              <a:buChar char="•"/>
            </a:pPr>
            <a:r>
              <a:rPr lang="en-US" sz="1400" dirty="0">
                <a:solidFill>
                  <a:srgbClr val="3D4752"/>
                </a:solidFill>
                <a:latin typeface="Calibri" pitchFamily="34" charset="0"/>
                <a:ea typeface="Calibri" pitchFamily="34" charset="-122"/>
                <a:cs typeface="Calibri" pitchFamily="34" charset="-120"/>
              </a:rPr>
              <a:t>Same-day response (critical: 4 hrs)</a:t>
            </a:r>
            <a:endParaRPr lang="en-US" sz="1400" dirty="0"/>
          </a:p>
          <a:p>
            <a:pPr marL="342900" indent="-342900">
              <a:spcAft>
                <a:spcPts val="500"/>
              </a:spcAft>
              <a:buSzPct val="100000"/>
              <a:buChar char="•"/>
            </a:pPr>
            <a:r>
              <a:rPr lang="en-US" sz="1400" dirty="0">
                <a:solidFill>
                  <a:srgbClr val="3D4752"/>
                </a:solidFill>
                <a:latin typeface="Calibri" pitchFamily="34" charset="0"/>
                <a:ea typeface="Calibri" pitchFamily="34" charset="-122"/>
                <a:cs typeface="Calibri" pitchFamily="34" charset="-120"/>
              </a:rPr>
              <a:t>Quarterly strategy review</a:t>
            </a:r>
            <a:endParaRPr lang="en-US" sz="1400" dirty="0"/>
          </a:p>
        </p:txBody>
      </p:sp>
      <p:sp>
        <p:nvSpPr>
          <p:cNvPr id="21" name="Text 19"/>
          <p:cNvSpPr txBox="1"/>
          <p:nvPr/>
        </p:nvSpPr>
        <p:spPr>
          <a:xfrm>
            <a:off x="548640" y="6035040"/>
            <a:ext cx="10058400" cy="274320"/>
          </a:xfrm>
          <a:prstGeom prst="rect">
            <a:avLst/>
          </a:prstGeom>
          <a:noFill/>
          <a:ln/>
        </p:spPr>
        <p:txBody>
          <a:bodyPr wrap="square" lIns="0" tIns="0" rIns="0" bIns="0" rtlCol="0" anchor="ctr"/>
          <a:lstStyle/>
          <a:p>
            <a:pPr indent="0" marL="0">
              <a:buNone/>
            </a:pPr>
            <a:r>
              <a:rPr lang="en-US" sz="1100" i="1" dirty="0">
                <a:solidFill>
                  <a:srgbClr val="6B7580"/>
                </a:solidFill>
                <a:latin typeface="Calibri" pitchFamily="34" charset="0"/>
                <a:ea typeface="Calibri" pitchFamily="34" charset="-122"/>
                <a:cs typeface="Calibri" pitchFamily="34" charset="-120"/>
              </a:rPr>
              <a:t>Every build includes a 30-day post-launch warranty. Extra work beyond a plan is billed at the standard rate.</a:t>
            </a:r>
            <a:endParaRPr lang="en-US" sz="1100" dirty="0"/>
          </a:p>
        </p:txBody>
      </p:sp>
      <p:sp>
        <p:nvSpPr>
          <p:cNvPr id="22" name="Text 20"/>
          <p:cNvSpPr txBox="1"/>
          <p:nvPr/>
        </p:nvSpPr>
        <p:spPr>
          <a:xfrm>
            <a:off x="548640" y="6446520"/>
            <a:ext cx="6400800" cy="228600"/>
          </a:xfrm>
          <a:prstGeom prst="rect">
            <a:avLst/>
          </a:prstGeom>
          <a:noFill/>
          <a:ln/>
        </p:spPr>
        <p:txBody>
          <a:bodyPr wrap="square" lIns="0" tIns="0" rIns="0" bIns="0" rtlCol="0" anchor="ctr"/>
          <a:lstStyle/>
          <a:p>
            <a:pPr indent="0" marL="0">
              <a:buNone/>
            </a:pPr>
            <a:r>
              <a:rPr lang="en-US" sz="900" dirty="0">
                <a:solidFill>
                  <a:srgbClr val="6B7580"/>
                </a:solidFill>
                <a:latin typeface="Calibri" pitchFamily="34" charset="0"/>
                <a:ea typeface="Calibri" pitchFamily="34" charset="-122"/>
                <a:cs typeface="Calibri" pitchFamily="34" charset="-120"/>
              </a:rPr>
              <a:t>Summit  ·  Pamar Enterprises website overview</a:t>
            </a:r>
            <a:endParaRPr lang="en-US" sz="900" dirty="0"/>
          </a:p>
        </p:txBody>
      </p:sp>
      <p:sp>
        <p:nvSpPr>
          <p:cNvPr id="23" name="Text 21"/>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6B75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71C2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300" kern="0" dirty="0">
                <a:solidFill>
                  <a:srgbClr val="F7C92D"/>
                </a:solidFill>
                <a:latin typeface="Arial" pitchFamily="34" charset="0"/>
                <a:ea typeface="Arial" pitchFamily="34" charset="-122"/>
                <a:cs typeface="Arial" pitchFamily="34" charset="-120"/>
              </a:rPr>
              <a:t>NEXT STEPS</a:t>
            </a:r>
            <a:endParaRPr lang="en-US" sz="1200" dirty="0"/>
          </a:p>
        </p:txBody>
      </p:sp>
      <p:sp>
        <p:nvSpPr>
          <p:cNvPr id="3" name="Text 1"/>
          <p:cNvSpPr txBox="1"/>
          <p:nvPr/>
        </p:nvSpPr>
        <p:spPr>
          <a:xfrm>
            <a:off x="548640" y="731520"/>
            <a:ext cx="11094415" cy="73152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Let’s shape it together</a:t>
            </a:r>
            <a:endParaRPr lang="en-US" sz="3400" dirty="0"/>
          </a:p>
        </p:txBody>
      </p:sp>
      <p:sp>
        <p:nvSpPr>
          <p:cNvPr id="4" name="Shape 2"/>
          <p:cNvSpPr/>
          <p:nvPr/>
        </p:nvSpPr>
        <p:spPr>
          <a:xfrm>
            <a:off x="548640" y="2103120"/>
            <a:ext cx="566928" cy="566928"/>
          </a:xfrm>
          <a:prstGeom prst="ellipse">
            <a:avLst/>
          </a:prstGeom>
          <a:solidFill>
            <a:srgbClr val="F7C92D"/>
          </a:solidFill>
          <a:ln w="12700">
            <a:solidFill>
              <a:srgbClr val="F7C92D"/>
            </a:solidFill>
            <a:prstDash val="solid"/>
          </a:ln>
        </p:spPr>
      </p:sp>
      <p:sp>
        <p:nvSpPr>
          <p:cNvPr id="5" name="Text 3"/>
          <p:cNvSpPr txBox="1"/>
          <p:nvPr/>
        </p:nvSpPr>
        <p:spPr>
          <a:xfrm>
            <a:off x="548640" y="2103120"/>
            <a:ext cx="566928" cy="566928"/>
          </a:xfrm>
          <a:prstGeom prst="rect">
            <a:avLst/>
          </a:prstGeom>
          <a:noFill/>
          <a:ln/>
        </p:spPr>
        <p:txBody>
          <a:bodyPr wrap="square" lIns="0" tIns="0" rIns="0" bIns="0" rtlCol="0" anchor="ctr"/>
          <a:lstStyle/>
          <a:p>
            <a:pPr algn="ctr" indent="0" marL="0">
              <a:buNone/>
            </a:pPr>
            <a:r>
              <a:rPr lang="en-US" sz="1600" b="1" dirty="0">
                <a:solidFill>
                  <a:srgbClr val="171C22"/>
                </a:solidFill>
                <a:latin typeface="Arial" pitchFamily="34" charset="0"/>
                <a:ea typeface="Arial" pitchFamily="34" charset="-122"/>
                <a:cs typeface="Arial" pitchFamily="34" charset="-120"/>
              </a:rPr>
              <a:t>1</a:t>
            </a:r>
            <a:endParaRPr lang="en-US" sz="1600" dirty="0"/>
          </a:p>
        </p:txBody>
      </p:sp>
      <p:sp>
        <p:nvSpPr>
          <p:cNvPr id="6" name="Text 4"/>
          <p:cNvSpPr txBox="1"/>
          <p:nvPr/>
        </p:nvSpPr>
        <p:spPr>
          <a:xfrm>
            <a:off x="548640" y="2880360"/>
            <a:ext cx="2514600" cy="6858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Walk through the prototype</a:t>
            </a:r>
            <a:endParaRPr lang="en-US" sz="1700" dirty="0"/>
          </a:p>
        </p:txBody>
      </p:sp>
      <p:sp>
        <p:nvSpPr>
          <p:cNvPr id="7" name="Text 5"/>
          <p:cNvSpPr txBox="1"/>
          <p:nvPr/>
        </p:nvSpPr>
        <p:spPr>
          <a:xfrm>
            <a:off x="548640" y="3611880"/>
            <a:ext cx="2514600" cy="914400"/>
          </a:xfrm>
          <a:prstGeom prst="rect">
            <a:avLst/>
          </a:prstGeom>
          <a:noFill/>
          <a:ln/>
        </p:spPr>
        <p:txBody>
          <a:bodyPr wrap="square" lIns="0" tIns="0" rIns="0" bIns="0" rtlCol="0" anchor="t"/>
          <a:lstStyle/>
          <a:p>
            <a:pPr indent="0" marL="0">
              <a:buNone/>
            </a:pPr>
            <a:r>
              <a:rPr lang="en-US" sz="1400" dirty="0">
                <a:solidFill>
                  <a:srgbClr val="C9CED4"/>
                </a:solidFill>
                <a:latin typeface="Calibri" pitchFamily="34" charset="0"/>
                <a:ea typeface="Calibri" pitchFamily="34" charset="-122"/>
                <a:cs typeface="Calibri" pitchFamily="34" charset="-120"/>
              </a:rPr>
              <a:t>A live demo of the working site with your team.</a:t>
            </a:r>
            <a:endParaRPr lang="en-US" sz="1400" dirty="0"/>
          </a:p>
        </p:txBody>
      </p:sp>
      <p:sp>
        <p:nvSpPr>
          <p:cNvPr id="8" name="Shape 6"/>
          <p:cNvSpPr/>
          <p:nvPr/>
        </p:nvSpPr>
        <p:spPr>
          <a:xfrm>
            <a:off x="3364992" y="2103120"/>
            <a:ext cx="566928" cy="566928"/>
          </a:xfrm>
          <a:prstGeom prst="ellipse">
            <a:avLst/>
          </a:prstGeom>
          <a:solidFill>
            <a:srgbClr val="F7C92D"/>
          </a:solidFill>
          <a:ln w="12700">
            <a:solidFill>
              <a:srgbClr val="F7C92D"/>
            </a:solidFill>
            <a:prstDash val="solid"/>
          </a:ln>
        </p:spPr>
      </p:sp>
      <p:sp>
        <p:nvSpPr>
          <p:cNvPr id="9" name="Text 7"/>
          <p:cNvSpPr txBox="1"/>
          <p:nvPr/>
        </p:nvSpPr>
        <p:spPr>
          <a:xfrm>
            <a:off x="3364992" y="2103120"/>
            <a:ext cx="566928" cy="566928"/>
          </a:xfrm>
          <a:prstGeom prst="rect">
            <a:avLst/>
          </a:prstGeom>
          <a:noFill/>
          <a:ln/>
        </p:spPr>
        <p:txBody>
          <a:bodyPr wrap="square" lIns="0" tIns="0" rIns="0" bIns="0" rtlCol="0" anchor="ctr"/>
          <a:lstStyle/>
          <a:p>
            <a:pPr algn="ctr" indent="0" marL="0">
              <a:buNone/>
            </a:pPr>
            <a:r>
              <a:rPr lang="en-US" sz="1600" b="1" dirty="0">
                <a:solidFill>
                  <a:srgbClr val="171C22"/>
                </a:solidFill>
                <a:latin typeface="Arial" pitchFamily="34" charset="0"/>
                <a:ea typeface="Arial" pitchFamily="34" charset="-122"/>
                <a:cs typeface="Arial" pitchFamily="34" charset="-120"/>
              </a:rPr>
              <a:t>2</a:t>
            </a:r>
            <a:endParaRPr lang="en-US" sz="1600" dirty="0"/>
          </a:p>
        </p:txBody>
      </p:sp>
      <p:sp>
        <p:nvSpPr>
          <p:cNvPr id="10" name="Text 8"/>
          <p:cNvSpPr txBox="1"/>
          <p:nvPr/>
        </p:nvSpPr>
        <p:spPr>
          <a:xfrm>
            <a:off x="3364992" y="2880360"/>
            <a:ext cx="2514600" cy="6858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Share budget &amp; priorities</a:t>
            </a:r>
            <a:endParaRPr lang="en-US" sz="1700" dirty="0"/>
          </a:p>
        </p:txBody>
      </p:sp>
      <p:sp>
        <p:nvSpPr>
          <p:cNvPr id="11" name="Text 9"/>
          <p:cNvSpPr txBox="1"/>
          <p:nvPr/>
        </p:nvSpPr>
        <p:spPr>
          <a:xfrm>
            <a:off x="3364992" y="3611880"/>
            <a:ext cx="2514600" cy="914400"/>
          </a:xfrm>
          <a:prstGeom prst="rect">
            <a:avLst/>
          </a:prstGeom>
          <a:noFill/>
          <a:ln/>
        </p:spPr>
        <p:txBody>
          <a:bodyPr wrap="square" lIns="0" tIns="0" rIns="0" bIns="0" rtlCol="0" anchor="t"/>
          <a:lstStyle/>
          <a:p>
            <a:pPr indent="0" marL="0">
              <a:buNone/>
            </a:pPr>
            <a:r>
              <a:rPr lang="en-US" sz="1400" dirty="0">
                <a:solidFill>
                  <a:srgbClr val="C9CED4"/>
                </a:solidFill>
                <a:latin typeface="Calibri" pitchFamily="34" charset="0"/>
                <a:ea typeface="Calibri" pitchFamily="34" charset="-122"/>
                <a:cs typeface="Calibri" pitchFamily="34" charset="-120"/>
              </a:rPr>
              <a:t>Your budget range, timeline, and must-haves.</a:t>
            </a:r>
            <a:endParaRPr lang="en-US" sz="1400" dirty="0"/>
          </a:p>
        </p:txBody>
      </p:sp>
      <p:sp>
        <p:nvSpPr>
          <p:cNvPr id="12" name="Shape 10"/>
          <p:cNvSpPr/>
          <p:nvPr/>
        </p:nvSpPr>
        <p:spPr>
          <a:xfrm>
            <a:off x="6181344" y="2103120"/>
            <a:ext cx="566928" cy="566928"/>
          </a:xfrm>
          <a:prstGeom prst="ellipse">
            <a:avLst/>
          </a:prstGeom>
          <a:solidFill>
            <a:srgbClr val="F7C92D"/>
          </a:solidFill>
          <a:ln w="12700">
            <a:solidFill>
              <a:srgbClr val="F7C92D"/>
            </a:solidFill>
            <a:prstDash val="solid"/>
          </a:ln>
        </p:spPr>
      </p:sp>
      <p:sp>
        <p:nvSpPr>
          <p:cNvPr id="13" name="Text 11"/>
          <p:cNvSpPr txBox="1"/>
          <p:nvPr/>
        </p:nvSpPr>
        <p:spPr>
          <a:xfrm>
            <a:off x="6181344" y="2103120"/>
            <a:ext cx="566928" cy="566928"/>
          </a:xfrm>
          <a:prstGeom prst="rect">
            <a:avLst/>
          </a:prstGeom>
          <a:noFill/>
          <a:ln/>
        </p:spPr>
        <p:txBody>
          <a:bodyPr wrap="square" lIns="0" tIns="0" rIns="0" bIns="0" rtlCol="0" anchor="ctr"/>
          <a:lstStyle/>
          <a:p>
            <a:pPr algn="ctr" indent="0" marL="0">
              <a:buNone/>
            </a:pPr>
            <a:r>
              <a:rPr lang="en-US" sz="1600" b="1" dirty="0">
                <a:solidFill>
                  <a:srgbClr val="171C22"/>
                </a:solidFill>
                <a:latin typeface="Arial" pitchFamily="34" charset="0"/>
                <a:ea typeface="Arial" pitchFamily="34" charset="-122"/>
                <a:cs typeface="Arial" pitchFamily="34" charset="-120"/>
              </a:rPr>
              <a:t>3</a:t>
            </a:r>
            <a:endParaRPr lang="en-US" sz="1600" dirty="0"/>
          </a:p>
        </p:txBody>
      </p:sp>
      <p:sp>
        <p:nvSpPr>
          <p:cNvPr id="14" name="Text 12"/>
          <p:cNvSpPr txBox="1"/>
          <p:nvPr/>
        </p:nvSpPr>
        <p:spPr>
          <a:xfrm>
            <a:off x="6181344" y="2880360"/>
            <a:ext cx="2514600" cy="6858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Get a fixed-price proposal</a:t>
            </a:r>
            <a:endParaRPr lang="en-US" sz="1700" dirty="0"/>
          </a:p>
        </p:txBody>
      </p:sp>
      <p:sp>
        <p:nvSpPr>
          <p:cNvPr id="15" name="Text 13"/>
          <p:cNvSpPr txBox="1"/>
          <p:nvPr/>
        </p:nvSpPr>
        <p:spPr>
          <a:xfrm>
            <a:off x="6181344" y="3611880"/>
            <a:ext cx="2514600" cy="914400"/>
          </a:xfrm>
          <a:prstGeom prst="rect">
            <a:avLst/>
          </a:prstGeom>
          <a:noFill/>
          <a:ln/>
        </p:spPr>
        <p:txBody>
          <a:bodyPr wrap="square" lIns="0" tIns="0" rIns="0" bIns="0" rtlCol="0" anchor="t"/>
          <a:lstStyle/>
          <a:p>
            <a:pPr indent="0" marL="0">
              <a:buNone/>
            </a:pPr>
            <a:r>
              <a:rPr lang="en-US" sz="1400" dirty="0">
                <a:solidFill>
                  <a:srgbClr val="C9CED4"/>
                </a:solidFill>
                <a:latin typeface="Calibri" pitchFamily="34" charset="0"/>
                <a:ea typeface="Calibri" pitchFamily="34" charset="-122"/>
                <a:cs typeface="Calibri" pitchFamily="34" charset="-120"/>
              </a:rPr>
              <a:t>Sized to your budget, within 2 business days.</a:t>
            </a:r>
            <a:endParaRPr lang="en-US" sz="1400" dirty="0"/>
          </a:p>
        </p:txBody>
      </p:sp>
      <p:sp>
        <p:nvSpPr>
          <p:cNvPr id="16" name="Shape 14"/>
          <p:cNvSpPr/>
          <p:nvPr/>
        </p:nvSpPr>
        <p:spPr>
          <a:xfrm>
            <a:off x="8997696" y="2103120"/>
            <a:ext cx="566928" cy="566928"/>
          </a:xfrm>
          <a:prstGeom prst="ellipse">
            <a:avLst/>
          </a:prstGeom>
          <a:solidFill>
            <a:srgbClr val="F7C92D"/>
          </a:solidFill>
          <a:ln w="12700">
            <a:solidFill>
              <a:srgbClr val="F7C92D"/>
            </a:solidFill>
            <a:prstDash val="solid"/>
          </a:ln>
        </p:spPr>
      </p:sp>
      <p:sp>
        <p:nvSpPr>
          <p:cNvPr id="17" name="Text 15"/>
          <p:cNvSpPr txBox="1"/>
          <p:nvPr/>
        </p:nvSpPr>
        <p:spPr>
          <a:xfrm>
            <a:off x="8997696" y="2103120"/>
            <a:ext cx="566928" cy="566928"/>
          </a:xfrm>
          <a:prstGeom prst="rect">
            <a:avLst/>
          </a:prstGeom>
          <a:noFill/>
          <a:ln/>
        </p:spPr>
        <p:txBody>
          <a:bodyPr wrap="square" lIns="0" tIns="0" rIns="0" bIns="0" rtlCol="0" anchor="ctr"/>
          <a:lstStyle/>
          <a:p>
            <a:pPr algn="ctr" indent="0" marL="0">
              <a:buNone/>
            </a:pPr>
            <a:r>
              <a:rPr lang="en-US" sz="1600" b="1" dirty="0">
                <a:solidFill>
                  <a:srgbClr val="171C22"/>
                </a:solidFill>
                <a:latin typeface="Arial" pitchFamily="34" charset="0"/>
                <a:ea typeface="Arial" pitchFamily="34" charset="-122"/>
                <a:cs typeface="Arial" pitchFamily="34" charset="-120"/>
              </a:rPr>
              <a:t>4</a:t>
            </a:r>
            <a:endParaRPr lang="en-US" sz="1600" dirty="0"/>
          </a:p>
        </p:txBody>
      </p:sp>
      <p:sp>
        <p:nvSpPr>
          <p:cNvPr id="18" name="Text 16"/>
          <p:cNvSpPr txBox="1"/>
          <p:nvPr/>
        </p:nvSpPr>
        <p:spPr>
          <a:xfrm>
            <a:off x="8997696" y="2880360"/>
            <a:ext cx="2514600" cy="6858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Kickoff &amp; discovery workshop</a:t>
            </a:r>
            <a:endParaRPr lang="en-US" sz="1700" dirty="0"/>
          </a:p>
        </p:txBody>
      </p:sp>
      <p:sp>
        <p:nvSpPr>
          <p:cNvPr id="19" name="Text 17"/>
          <p:cNvSpPr txBox="1"/>
          <p:nvPr/>
        </p:nvSpPr>
        <p:spPr>
          <a:xfrm>
            <a:off x="8997696" y="3611880"/>
            <a:ext cx="2514600" cy="914400"/>
          </a:xfrm>
          <a:prstGeom prst="rect">
            <a:avLst/>
          </a:prstGeom>
          <a:noFill/>
          <a:ln/>
        </p:spPr>
        <p:txBody>
          <a:bodyPr wrap="square" lIns="0" tIns="0" rIns="0" bIns="0" rtlCol="0" anchor="t"/>
          <a:lstStyle/>
          <a:p>
            <a:pPr indent="0" marL="0">
              <a:buNone/>
            </a:pPr>
            <a:r>
              <a:rPr lang="en-US" sz="1400" dirty="0">
                <a:solidFill>
                  <a:srgbClr val="C9CED4"/>
                </a:solidFill>
                <a:latin typeface="Calibri" pitchFamily="34" charset="0"/>
                <a:ea typeface="Calibri" pitchFamily="34" charset="-122"/>
                <a:cs typeface="Calibri" pitchFamily="34" charset="-120"/>
              </a:rPr>
              <a:t>Goals, reference-site review, content and photo plan.</a:t>
            </a:r>
            <a:endParaRPr lang="en-US" sz="1400" dirty="0"/>
          </a:p>
        </p:txBody>
      </p:sp>
      <p:sp>
        <p:nvSpPr>
          <p:cNvPr id="20" name="Text 18"/>
          <p:cNvSpPr txBox="1"/>
          <p:nvPr/>
        </p:nvSpPr>
        <p:spPr>
          <a:xfrm>
            <a:off x="548640" y="5120640"/>
            <a:ext cx="457200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Summit</a:t>
            </a:r>
            <a:endParaRPr lang="en-US" sz="2200" dirty="0"/>
          </a:p>
        </p:txBody>
      </p:sp>
      <p:sp>
        <p:nvSpPr>
          <p:cNvPr id="21" name="Text 19"/>
          <p:cNvSpPr txBox="1"/>
          <p:nvPr/>
        </p:nvSpPr>
        <p:spPr>
          <a:xfrm>
            <a:off x="548640" y="5577840"/>
            <a:ext cx="6400800" cy="365760"/>
          </a:xfrm>
          <a:prstGeom prst="rect">
            <a:avLst/>
          </a:prstGeom>
          <a:noFill/>
          <a:ln/>
        </p:spPr>
        <p:txBody>
          <a:bodyPr wrap="square" lIns="0" tIns="0" rIns="0" bIns="0" rtlCol="0" anchor="ctr"/>
          <a:lstStyle/>
          <a:p>
            <a:pPr indent="0" marL="0">
              <a:buNone/>
            </a:pPr>
            <a:r>
              <a:rPr lang="en-US" sz="1500" i="1" dirty="0">
                <a:solidFill>
                  <a:srgbClr val="F7C92D"/>
                </a:solidFill>
                <a:latin typeface="Calibri" pitchFamily="34" charset="0"/>
                <a:ea typeface="Calibri" pitchFamily="34" charset="-122"/>
                <a:cs typeface="Calibri" pitchFamily="34" charset="-120"/>
              </a:rPr>
              <a:t>Thank you. We’re ready when you are.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Summit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Pamar Enterprises – Website Revamp Proposal</dc:title>
  <dc:subject>PptxGenJS Presentation</dc:subject>
  <dc:creator>Summit</dc:creator>
  <cp:lastModifiedBy>Summit</cp:lastModifiedBy>
  <cp:revision>1</cp:revision>
  <dcterms:created xsi:type="dcterms:W3CDTF">2026-09-25T17:04:11Z</dcterms:created>
  <dcterms:modified xsi:type="dcterms:W3CDTF">2026-09-25T17:04:11Z</dcterms:modified>
</cp:coreProperties>
</file>